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0"/>
          </a:solidFill>
          <a:ln>
            <a:solidFill>
              <a:srgbClr val="0F1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138160" y="-457200"/>
            <a:ext cx="4754880" cy="7772400"/>
          </a:xfrm>
          <a:prstGeom prst="roundRect">
            <a:avLst/>
          </a:prstGeom>
          <a:solidFill>
            <a:srgbClr val="2165AC"/>
          </a:solidFill>
          <a:ln>
            <a:solidFill>
              <a:srgbClr val="2165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72600" y="-457200"/>
            <a:ext cx="3840480" cy="7772400"/>
          </a:xfrm>
          <a:prstGeom prst="roundRect">
            <a:avLst/>
          </a:prstGeom>
          <a:solidFill>
            <a:srgbClr val="31BEC9"/>
          </a:solidFill>
          <a:ln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A9184"/>
          </a:solidFill>
          <a:ln>
            <a:solidFill>
              <a:srgbClr val="1A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7315200" cy="68580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 Display"/>
              </a:rPr>
              <a:t>FORESIGHT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6858000" cy="5029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500" b="1">
                <a:solidFill>
                  <a:srgbClr val="D6E6F2"/>
                </a:solidFill>
                <a:latin typeface="Aptos"/>
              </a:rPr>
              <a:t>Inventory Intelligence &amp; Demand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78608"/>
            <a:ext cx="4572000" cy="36576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500" b="1">
                <a:solidFill>
                  <a:srgbClr val="31BEC9"/>
                </a:solidFill>
                <a:latin typeface="Aptos"/>
              </a:rPr>
              <a:t>Executive Readout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6126480" cy="36576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From demand forecasts to actionable reorder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10912"/>
            <a:ext cx="640080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100" b="0">
                <a:solidFill>
                  <a:srgbClr val="BECDDC"/>
                </a:solidFill>
                <a:latin typeface="Aptos"/>
              </a:rPr>
              <a:t>Prepared for  |  Head of Operations &amp; Finance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3657600" cy="22860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NORTHBAY LIVING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000" b="1">
                <a:solidFill>
                  <a:srgbClr val="31BEC9"/>
                </a:solidFill>
                <a:latin typeface="Aptos"/>
              </a:rPr>
              <a:t>01 / EXECUTIVE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 Display"/>
              </a:rPr>
              <a:t>The system turns forecast demand into inventory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789920" cy="36576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200" b="0">
                <a:solidFill>
                  <a:srgbClr val="BECDDC"/>
                </a:solidFill>
                <a:latin typeface="Aptos"/>
              </a:rPr>
              <a:t>Current dashboard view • 100 SKUs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2514600" cy="1371600"/>
          </a:xfrm>
          <a:prstGeom prst="roundRect">
            <a:avLst/>
          </a:prstGeom>
          <a:solidFill>
            <a:srgbClr val="1C2D48"/>
          </a:solidFill>
          <a:ln>
            <a:solidFill>
              <a:srgbClr val="1C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73152" cy="1371600"/>
          </a:xfrm>
          <a:prstGeom prst="rect">
            <a:avLst/>
          </a:prstGeom>
          <a:solidFill>
            <a:srgbClr val="31BEC9"/>
          </a:solidFill>
          <a:ln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2103120" cy="41148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 Display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24912"/>
            <a:ext cx="214884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100" b="0">
                <a:solidFill>
                  <a:srgbClr val="BECDDC"/>
                </a:solidFill>
                <a:latin typeface="Aptos"/>
              </a:rPr>
              <a:t>SKUs monitored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920240"/>
            <a:ext cx="2514600" cy="1371600"/>
          </a:xfrm>
          <a:prstGeom prst="roundRect">
            <a:avLst/>
          </a:prstGeom>
          <a:solidFill>
            <a:srgbClr val="1C2D48"/>
          </a:solidFill>
          <a:ln>
            <a:solidFill>
              <a:srgbClr val="1C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920240"/>
            <a:ext cx="73152" cy="1371600"/>
          </a:xfrm>
          <a:prstGeom prst="rect">
            <a:avLst/>
          </a:prstGeom>
          <a:solidFill>
            <a:srgbClr val="F28F3A"/>
          </a:solidFill>
          <a:ln>
            <a:solidFill>
              <a:srgbClr val="F28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176272"/>
            <a:ext cx="2103120" cy="41148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 Display"/>
              </a:rPr>
              <a:t>₹61.14M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724912"/>
            <a:ext cx="214884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100" b="0">
                <a:solidFill>
                  <a:srgbClr val="BECDDC"/>
                </a:solidFill>
                <a:latin typeface="Aptos"/>
              </a:rPr>
              <a:t>Value at 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920240"/>
            <a:ext cx="2514600" cy="1371600"/>
          </a:xfrm>
          <a:prstGeom prst="roundRect">
            <a:avLst/>
          </a:prstGeom>
          <a:solidFill>
            <a:srgbClr val="1C2D48"/>
          </a:solidFill>
          <a:ln>
            <a:solidFill>
              <a:srgbClr val="1C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920240"/>
            <a:ext cx="73152" cy="1371600"/>
          </a:xfrm>
          <a:prstGeom prst="rect">
            <a:avLst/>
          </a:prstGeom>
          <a:solidFill>
            <a:srgbClr val="1A9184"/>
          </a:solidFill>
          <a:ln>
            <a:solidFill>
              <a:srgbClr val="1A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176272"/>
            <a:ext cx="2103120" cy="41148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 Display"/>
              </a:rPr>
              <a:t>23.75%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724912"/>
            <a:ext cx="214884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100" b="0">
                <a:solidFill>
                  <a:srgbClr val="BECDDC"/>
                </a:solidFill>
                <a:latin typeface="Aptos"/>
              </a:rPr>
              <a:t>Reported WAPE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1920240"/>
            <a:ext cx="2514600" cy="1371600"/>
          </a:xfrm>
          <a:prstGeom prst="roundRect">
            <a:avLst/>
          </a:prstGeom>
          <a:solidFill>
            <a:srgbClr val="1C2D48"/>
          </a:solidFill>
          <a:ln>
            <a:solidFill>
              <a:srgbClr val="1C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9680" y="1920240"/>
            <a:ext cx="73152" cy="1371600"/>
          </a:xfrm>
          <a:prstGeom prst="rect">
            <a:avLst/>
          </a:prstGeom>
          <a:solidFill>
            <a:srgbClr val="D2464E"/>
          </a:solidFill>
          <a:ln>
            <a:solidFill>
              <a:srgbClr val="D24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2176272"/>
            <a:ext cx="2103120" cy="41148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 Display"/>
              </a:rPr>
              <a:t>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724912"/>
            <a:ext cx="214884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100" b="0">
                <a:solidFill>
                  <a:srgbClr val="BECDDC"/>
                </a:solidFill>
                <a:latin typeface="Aptos"/>
              </a:rPr>
              <a:t>High-risk / reorder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94760"/>
            <a:ext cx="10744200" cy="1508760"/>
          </a:xfrm>
          <a:prstGeom prst="roundRect">
            <a:avLst/>
          </a:prstGeom>
          <a:solidFill>
            <a:srgbClr val="1C2D48"/>
          </a:solidFill>
          <a:ln>
            <a:solidFill>
              <a:srgbClr val="1C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69080"/>
            <a:ext cx="365760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300" b="1">
                <a:solidFill>
                  <a:srgbClr val="31BEC9"/>
                </a:solidFill>
                <a:latin typeface="Aptos"/>
              </a:rPr>
              <a:t>What leadership should take away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16552"/>
            <a:ext cx="9875520" cy="68580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sz="1100"/>
              <a:t>Prioritize inventory decisions by forecast shortfall and rupee exposure.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sz="1100"/>
              <a:t>Use the dashboard for SKU-level triage and the API for repeatable scoring.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 sz="1100"/>
              <a:t>Treat the rupee figure as an estimated exposure, not confirmed realized loss.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FORESIGHT  |  NorthBay Living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r"/>
            <a:r>
              <a:rPr sz="900" b="1">
                <a:solidFill>
                  <a:srgbClr val="31BEC9"/>
                </a:solidFill>
                <a:latin typeface="Aptos"/>
              </a:rPr>
              <a:t>02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5074920"/>
            <a:ext cx="4800600" cy="658368"/>
          </a:xfrm>
          <a:prstGeom prst="roundRect">
            <a:avLst/>
          </a:prstGeom>
          <a:solidFill>
            <a:srgbClr val="1B9D8C"/>
          </a:solidFill>
          <a:ln>
            <a:solidFill>
              <a:srgbClr val="1B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9712" y="5212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4F7FC"/>
                </a:solidFill>
                <a:latin typeface="Aptos"/>
              </a:rPr>
              <a:t>Upload your own data → dashboard results update accordingly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000" b="1">
                <a:solidFill>
                  <a:srgbClr val="31BEC9"/>
                </a:solidFill>
                <a:latin typeface="Aptos"/>
              </a:rPr>
              <a:t>02 / BUSINESS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 Display"/>
              </a:rPr>
              <a:t>The operational problem is not only forecasting—it is prioritization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166360" cy="3611880"/>
          </a:xfrm>
          <a:prstGeom prst="roundRect">
            <a:avLst/>
          </a:prstGeom>
          <a:solidFill>
            <a:srgbClr val="1C2D48"/>
          </a:solidFill>
          <a:ln>
            <a:solidFill>
              <a:srgbClr val="1C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76272"/>
            <a:ext cx="365760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300" b="1">
                <a:solidFill>
                  <a:srgbClr val="F28F3A"/>
                </a:solidFill>
                <a:latin typeface="Aptos"/>
              </a:rPr>
              <a:t>Business 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633472"/>
            <a:ext cx="4389120" cy="210312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rPr sz="1200"/>
              <a:t>Demand varies across SKUs, weeks and promotions.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rPr sz="1200"/>
              <a:t>Inventory decisions need a common, explainable priority signal.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rPr sz="1200"/>
              <a:t>Finance needs an interpretable view of potential exposure.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74519"/>
            <a:ext cx="5212080" cy="3611880"/>
          </a:xfrm>
          <a:prstGeom prst="roundRect">
            <a:avLst/>
          </a:prstGeom>
          <a:solidFill>
            <a:srgbClr val="1C2D48"/>
          </a:solidFill>
          <a:ln>
            <a:solidFill>
              <a:srgbClr val="1C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176272"/>
            <a:ext cx="365760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300" b="1">
                <a:solidFill>
                  <a:srgbClr val="31BEC9"/>
                </a:solidFill>
                <a:latin typeface="Aptos"/>
              </a:rPr>
              <a:t>FORESIGHT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33472"/>
            <a:ext cx="4434840" cy="210312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rPr sz="1200"/>
              <a:t>Forecast demand using historical and calendar features.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rPr sz="1200"/>
              <a:t>Compare available inventory against expected demand.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rPr sz="1200"/>
              <a:t>Translate shortfall into risk level, action and rupee estimate.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FORESIGHT  |  NorthBay Living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r"/>
            <a:r>
              <a:rPr sz="900" b="1">
                <a:solidFill>
                  <a:srgbClr val="31BEC9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000" b="1">
                <a:solidFill>
                  <a:srgbClr val="31BEC9"/>
                </a:solidFill>
                <a:latin typeface="Aptos"/>
              </a:rPr>
              <a:t>03 /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 Display"/>
              </a:rPr>
              <a:t>A repeatable pipeline connects data, forecasts and decisions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331720"/>
            <a:ext cx="1874519" cy="2011680"/>
          </a:xfrm>
          <a:prstGeom prst="roundRect">
            <a:avLst/>
          </a:prstGeom>
          <a:solidFill>
            <a:srgbClr val="1C2D48"/>
          </a:solidFill>
          <a:ln>
            <a:solidFill>
              <a:srgbClr val="1C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2331720"/>
            <a:ext cx="1874519" cy="109728"/>
          </a:xfrm>
          <a:prstGeom prst="rect">
            <a:avLst/>
          </a:prstGeom>
          <a:solidFill>
            <a:srgbClr val="31BEC9"/>
          </a:solidFill>
          <a:ln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633472"/>
            <a:ext cx="411480" cy="32004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300" b="1">
                <a:solidFill>
                  <a:srgbClr val="31BEC9"/>
                </a:solidFill>
                <a:latin typeface="Aptos Display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3127248"/>
            <a:ext cx="150876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584448"/>
            <a:ext cx="1463040" cy="5029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100" b="0">
                <a:solidFill>
                  <a:srgbClr val="BECDDC"/>
                </a:solidFill>
                <a:latin typeface="Aptos"/>
              </a:rPr>
              <a:t>Clean &amp; prepare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8608" y="3063240"/>
            <a:ext cx="32004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ctr"/>
            <a:r>
              <a:rPr sz="1300" b="1">
                <a:solidFill>
                  <a:srgbClr val="31BEC9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44368" y="2331720"/>
            <a:ext cx="1874519" cy="2011680"/>
          </a:xfrm>
          <a:prstGeom prst="roundRect">
            <a:avLst/>
          </a:prstGeom>
          <a:solidFill>
            <a:srgbClr val="1C2D48"/>
          </a:solidFill>
          <a:ln>
            <a:solidFill>
              <a:srgbClr val="1C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44368" y="2331720"/>
            <a:ext cx="1874519" cy="109728"/>
          </a:xfrm>
          <a:prstGeom prst="rect">
            <a:avLst/>
          </a:prstGeom>
          <a:solidFill>
            <a:srgbClr val="2165AC"/>
          </a:solidFill>
          <a:ln>
            <a:solidFill>
              <a:srgbClr val="2165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27248" y="2633472"/>
            <a:ext cx="411480" cy="32004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300" b="1">
                <a:solidFill>
                  <a:srgbClr val="2165AC"/>
                </a:solidFill>
                <a:latin typeface="Aptos Display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3127248"/>
            <a:ext cx="150876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3584448"/>
            <a:ext cx="1463040" cy="5029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100" b="0">
                <a:solidFill>
                  <a:srgbClr val="BECDDC"/>
                </a:solidFill>
                <a:latin typeface="Aptos"/>
              </a:rPr>
              <a:t>Lags, rolling stats, calendar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3063240"/>
            <a:ext cx="32004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ctr"/>
            <a:r>
              <a:rPr sz="1300" b="1">
                <a:solidFill>
                  <a:srgbClr val="31BEC9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30368" y="2331720"/>
            <a:ext cx="1874519" cy="2011680"/>
          </a:xfrm>
          <a:prstGeom prst="roundRect">
            <a:avLst/>
          </a:prstGeom>
          <a:solidFill>
            <a:srgbClr val="1C2D48"/>
          </a:solidFill>
          <a:ln>
            <a:solidFill>
              <a:srgbClr val="1C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30368" y="2331720"/>
            <a:ext cx="1874519" cy="109728"/>
          </a:xfrm>
          <a:prstGeom prst="rect">
            <a:avLst/>
          </a:prstGeom>
          <a:solidFill>
            <a:srgbClr val="1A9184"/>
          </a:solidFill>
          <a:ln>
            <a:solidFill>
              <a:srgbClr val="1A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13248" y="2633472"/>
            <a:ext cx="411480" cy="32004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300" b="1">
                <a:solidFill>
                  <a:srgbClr val="1A9184"/>
                </a:solidFill>
                <a:latin typeface="Aptos Display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3248" y="3127248"/>
            <a:ext cx="150876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Forecast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3584448"/>
            <a:ext cx="1463040" cy="5029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100" b="0">
                <a:solidFill>
                  <a:srgbClr val="BECDDC"/>
                </a:solidFill>
                <a:latin typeface="Aptos"/>
              </a:rPr>
              <a:t>Model + rolling backtest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3063240"/>
            <a:ext cx="32004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ctr"/>
            <a:r>
              <a:rPr sz="1300" b="1">
                <a:solidFill>
                  <a:srgbClr val="31BEC9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16368" y="2331720"/>
            <a:ext cx="1874519" cy="2011680"/>
          </a:xfrm>
          <a:prstGeom prst="roundRect">
            <a:avLst/>
          </a:prstGeom>
          <a:solidFill>
            <a:srgbClr val="1C2D48"/>
          </a:solidFill>
          <a:ln>
            <a:solidFill>
              <a:srgbClr val="1C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16368" y="2331720"/>
            <a:ext cx="1874519" cy="109728"/>
          </a:xfrm>
          <a:prstGeom prst="rect">
            <a:avLst/>
          </a:prstGeom>
          <a:solidFill>
            <a:srgbClr val="F28F3A"/>
          </a:solidFill>
          <a:ln>
            <a:solidFill>
              <a:srgbClr val="F28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9248" y="2633472"/>
            <a:ext cx="411480" cy="32004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300" b="1">
                <a:solidFill>
                  <a:srgbClr val="F28F3A"/>
                </a:solidFill>
                <a:latin typeface="Aptos Display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3127248"/>
            <a:ext cx="150876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9248" y="3584448"/>
            <a:ext cx="1463040" cy="5029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100" b="0">
                <a:solidFill>
                  <a:srgbClr val="BECDDC"/>
                </a:solidFill>
                <a:latin typeface="Aptos"/>
              </a:rPr>
              <a:t>Inventory shortfall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3063240"/>
            <a:ext cx="32004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ctr"/>
            <a:r>
              <a:rPr sz="1300" b="1">
                <a:solidFill>
                  <a:srgbClr val="31BEC9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02368" y="2331720"/>
            <a:ext cx="1874519" cy="2011680"/>
          </a:xfrm>
          <a:prstGeom prst="roundRect">
            <a:avLst/>
          </a:prstGeom>
          <a:solidFill>
            <a:srgbClr val="1C2D48"/>
          </a:solidFill>
          <a:ln>
            <a:solidFill>
              <a:srgbClr val="1C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02368" y="2331720"/>
            <a:ext cx="1874519" cy="109728"/>
          </a:xfrm>
          <a:prstGeom prst="rect">
            <a:avLst/>
          </a:prstGeom>
          <a:solidFill>
            <a:srgbClr val="D2464E"/>
          </a:solidFill>
          <a:ln>
            <a:solidFill>
              <a:srgbClr val="D24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85248" y="2633472"/>
            <a:ext cx="411480" cy="32004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300" b="1">
                <a:solidFill>
                  <a:srgbClr val="D2464E"/>
                </a:solidFill>
                <a:latin typeface="Aptos Display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85248" y="3127248"/>
            <a:ext cx="150876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85248" y="3584448"/>
            <a:ext cx="1463040" cy="5029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100" b="0">
                <a:solidFill>
                  <a:srgbClr val="BECDDC"/>
                </a:solidFill>
                <a:latin typeface="Aptos"/>
              </a:rPr>
              <a:t>Reorder priority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074920"/>
            <a:ext cx="10607040" cy="32004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200" b="1">
                <a:solidFill>
                  <a:srgbClr val="F28F3A"/>
                </a:solidFill>
                <a:latin typeface="Aptos"/>
              </a:rPr>
              <a:t>Design principle: use only available fields; do not fabricate lead time or reorder-point inputs.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FORESIGHT  |  NorthBay Living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r"/>
            <a:r>
              <a:rPr sz="900" b="1">
                <a:solidFill>
                  <a:srgbClr val="31BEC9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000" b="1">
                <a:solidFill>
                  <a:srgbClr val="31BEC9"/>
                </a:solidFill>
                <a:latin typeface="Aptos"/>
              </a:rPr>
              <a:t>04 / 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 Display"/>
              </a:rPr>
              <a:t>The selected approach improves on the seasonal-naive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789920" cy="36576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200" b="0">
                <a:solidFill>
                  <a:srgbClr val="BECDDC"/>
                </a:solidFill>
                <a:latin typeface="Aptos"/>
              </a:rPr>
              <a:t>WAPE comparison • lower is better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1920240" cy="22860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Seasonal Naive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2075688"/>
            <a:ext cx="6858000" cy="274320"/>
          </a:xfrm>
          <a:prstGeom prst="roundRect">
            <a:avLst/>
          </a:prstGeom>
          <a:solidFill>
            <a:srgbClr val="2E4058"/>
          </a:solidFill>
          <a:ln>
            <a:solidFill>
              <a:srgbClr val="2E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34640" y="2075688"/>
            <a:ext cx="5779579" cy="274320"/>
          </a:xfrm>
          <a:prstGeom prst="roundRect">
            <a:avLst/>
          </a:prstGeom>
          <a:solidFill>
            <a:srgbClr val="667486"/>
          </a:solidFill>
          <a:ln>
            <a:solidFill>
              <a:srgbClr val="667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2039112"/>
            <a:ext cx="109728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ptos"/>
              </a:rPr>
              <a:t>33.71%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15768"/>
            <a:ext cx="1920240" cy="22860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Random Forest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2734056"/>
            <a:ext cx="6858000" cy="274320"/>
          </a:xfrm>
          <a:prstGeom prst="roundRect">
            <a:avLst/>
          </a:prstGeom>
          <a:solidFill>
            <a:srgbClr val="2E4058"/>
          </a:solidFill>
          <a:ln>
            <a:solidFill>
              <a:srgbClr val="2E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34640" y="2734056"/>
            <a:ext cx="4334256" cy="274320"/>
          </a:xfrm>
          <a:prstGeom prst="roundRect">
            <a:avLst/>
          </a:prstGeom>
          <a:solidFill>
            <a:srgbClr val="2165AC"/>
          </a:solidFill>
          <a:ln>
            <a:solidFill>
              <a:srgbClr val="2165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21240" y="2697479"/>
            <a:ext cx="109728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ptos"/>
              </a:rPr>
              <a:t>25.28%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74136"/>
            <a:ext cx="1920240" cy="22860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Gradient Boosting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3392424"/>
            <a:ext cx="6858000" cy="274320"/>
          </a:xfrm>
          <a:prstGeom prst="roundRect">
            <a:avLst/>
          </a:prstGeom>
          <a:solidFill>
            <a:srgbClr val="2E4058"/>
          </a:solidFill>
          <a:ln>
            <a:solidFill>
              <a:srgbClr val="2E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34640" y="3392424"/>
            <a:ext cx="4138803" cy="274320"/>
          </a:xfrm>
          <a:prstGeom prst="roundRect">
            <a:avLst/>
          </a:prstGeom>
          <a:solidFill>
            <a:srgbClr val="1A9184"/>
          </a:solidFill>
          <a:ln>
            <a:solidFill>
              <a:srgbClr val="1A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1240" y="3355848"/>
            <a:ext cx="109728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ptos"/>
              </a:rPr>
              <a:t>24.14%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32504"/>
            <a:ext cx="1920240" cy="22860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Reported Final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4050791"/>
            <a:ext cx="6858000" cy="274320"/>
          </a:xfrm>
          <a:prstGeom prst="roundRect">
            <a:avLst/>
          </a:prstGeom>
          <a:solidFill>
            <a:srgbClr val="2E4058"/>
          </a:solidFill>
          <a:ln>
            <a:solidFill>
              <a:srgbClr val="2E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34640" y="4050791"/>
            <a:ext cx="4071937" cy="274320"/>
          </a:xfrm>
          <a:prstGeom prst="roundRect">
            <a:avLst/>
          </a:prstGeom>
          <a:solidFill>
            <a:srgbClr val="31BEC9"/>
          </a:solidFill>
          <a:ln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0" y="4014216"/>
            <a:ext cx="109728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ptos"/>
              </a:rPr>
              <a:t>23.75%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892040"/>
            <a:ext cx="10561320" cy="822960"/>
          </a:xfrm>
          <a:prstGeom prst="roundRect">
            <a:avLst/>
          </a:prstGeom>
          <a:solidFill>
            <a:srgbClr val="1C2D48"/>
          </a:solidFill>
          <a:ln>
            <a:solidFill>
              <a:srgbClr val="1C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093208"/>
            <a:ext cx="1188720" cy="22860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300" b="1">
                <a:solidFill>
                  <a:srgbClr val="31BEC9"/>
                </a:solidFill>
                <a:latin typeface="Aptos"/>
              </a:rPr>
              <a:t>Interpretation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5010912"/>
            <a:ext cx="8595360" cy="384048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The final reported WAPE is below the seasonal-naive baseline; performance should still be monitored by SKU and season.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FORESIGHT  |  NorthBay Living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r"/>
            <a:r>
              <a:rPr sz="900" b="1">
                <a:solidFill>
                  <a:srgbClr val="31BEC9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000" b="1">
                <a:solidFill>
                  <a:srgbClr val="31BEC9"/>
                </a:solidFill>
                <a:latin typeface="Aptos"/>
              </a:rPr>
              <a:t>05 / RISK &amp;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 Display"/>
              </a:rPr>
              <a:t>Risk is expressed in operational language—not only model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57400"/>
            <a:ext cx="3246120" cy="2468880"/>
          </a:xfrm>
          <a:prstGeom prst="roundRect">
            <a:avLst/>
          </a:prstGeom>
          <a:solidFill>
            <a:srgbClr val="1C2D48"/>
          </a:solidFill>
          <a:ln>
            <a:solidFill>
              <a:srgbClr val="1C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3246120" cy="118872"/>
          </a:xfrm>
          <a:prstGeom prst="rect">
            <a:avLst/>
          </a:prstGeom>
          <a:solidFill>
            <a:srgbClr val="D2464E"/>
          </a:solidFill>
          <a:ln>
            <a:solidFill>
              <a:srgbClr val="D24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274320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300" b="1">
                <a:solidFill>
                  <a:srgbClr val="D2464E"/>
                </a:solidFill>
                <a:latin typeface="Aptos"/>
              </a:rPr>
              <a:t>REORDER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2743200" cy="59436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Forecast exceeds available inventory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1371600" cy="201168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000" b="1">
                <a:solidFill>
                  <a:srgbClr val="BECDDC"/>
                </a:solidFill>
                <a:latin typeface="Aptos"/>
              </a:rPr>
              <a:t>Recommended: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41648"/>
            <a:ext cx="274320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Reorder inventory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57400"/>
            <a:ext cx="3246120" cy="2468880"/>
          </a:xfrm>
          <a:prstGeom prst="roundRect">
            <a:avLst/>
          </a:prstGeom>
          <a:solidFill>
            <a:srgbClr val="1C2D48"/>
          </a:solidFill>
          <a:ln>
            <a:solidFill>
              <a:srgbClr val="1C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057400"/>
            <a:ext cx="3246120" cy="118872"/>
          </a:xfrm>
          <a:prstGeom prst="rect">
            <a:avLst/>
          </a:prstGeom>
          <a:solidFill>
            <a:srgbClr val="F28F3A"/>
          </a:solidFill>
          <a:ln>
            <a:solidFill>
              <a:srgbClr val="F28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423160"/>
            <a:ext cx="274320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300" b="1">
                <a:solidFill>
                  <a:srgbClr val="F28F3A"/>
                </a:solidFill>
                <a:latin typeface="Aptos"/>
              </a:rPr>
              <a:t>MONITOR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926080"/>
            <a:ext cx="2743200" cy="59436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Demand and inventory are closer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794760"/>
            <a:ext cx="1371600" cy="201168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000" b="1">
                <a:solidFill>
                  <a:srgbClr val="BECDDC"/>
                </a:solidFill>
                <a:latin typeface="Aptos"/>
              </a:rPr>
              <a:t>Recommended: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4041648"/>
            <a:ext cx="274320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Review next cycle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057400"/>
            <a:ext cx="3246120" cy="2468880"/>
          </a:xfrm>
          <a:prstGeom prst="roundRect">
            <a:avLst/>
          </a:prstGeom>
          <a:solidFill>
            <a:srgbClr val="1C2D48"/>
          </a:solidFill>
          <a:ln>
            <a:solidFill>
              <a:srgbClr val="1C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2057400"/>
            <a:ext cx="3246120" cy="118872"/>
          </a:xfrm>
          <a:prstGeom prst="rect">
            <a:avLst/>
          </a:prstGeom>
          <a:solidFill>
            <a:srgbClr val="1A9184"/>
          </a:solidFill>
          <a:ln>
            <a:solidFill>
              <a:srgbClr val="1A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423160"/>
            <a:ext cx="274320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300" b="1">
                <a:solidFill>
                  <a:srgbClr val="1A9184"/>
                </a:solidFill>
                <a:latin typeface="Aptos"/>
              </a:rPr>
              <a:t>OVERSTOCK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926080"/>
            <a:ext cx="2743200" cy="59436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Available inventory exceeds expected demand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794760"/>
            <a:ext cx="1371600" cy="201168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000" b="1">
                <a:solidFill>
                  <a:srgbClr val="BECDDC"/>
                </a:solidFill>
                <a:latin typeface="Aptos"/>
              </a:rPr>
              <a:t>Recommended: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041648"/>
            <a:ext cx="274320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Avoid unnecessary replenishment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212080"/>
            <a:ext cx="10515600" cy="32004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200" b="1">
                <a:solidFill>
                  <a:srgbClr val="F28F3A"/>
                </a:solidFill>
                <a:latin typeface="Aptos"/>
              </a:rPr>
              <a:t>Rupee exposure = estimated shortfall units × unit price. It is a prioritization signal, not a confirmed loss.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FORESIGHT  |  NorthBay Living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r"/>
            <a:r>
              <a:rPr sz="900" b="1">
                <a:solidFill>
                  <a:srgbClr val="31BEC9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000" b="1">
                <a:solidFill>
                  <a:srgbClr val="31BEC9"/>
                </a:solidFill>
                <a:latin typeface="Aptos"/>
              </a:rPr>
              <a:t>06 /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 Display"/>
              </a:rPr>
              <a:t>The solution is available through both a dashboard and 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074920" cy="3246120"/>
          </a:xfrm>
          <a:prstGeom prst="roundRect">
            <a:avLst/>
          </a:prstGeom>
          <a:solidFill>
            <a:srgbClr val="1C2D48"/>
          </a:solidFill>
          <a:ln>
            <a:solidFill>
              <a:srgbClr val="1C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59152"/>
            <a:ext cx="365760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300" b="1">
                <a:solidFill>
                  <a:srgbClr val="31BEC9"/>
                </a:solidFill>
                <a:latin typeface="Aptos"/>
              </a:rPr>
              <a:t>Streamlit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52928"/>
            <a:ext cx="4206240" cy="164592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sz="1200"/>
              <a:t>Executive KPI view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sz="1200"/>
              <a:t>Risk summary and SKU-level prioritization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sz="1200"/>
              <a:t>Forecast horizon and model performance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sz="1200"/>
              <a:t>Business-facing explanations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2011680"/>
            <a:ext cx="5074920" cy="3246120"/>
          </a:xfrm>
          <a:prstGeom prst="roundRect">
            <a:avLst/>
          </a:prstGeom>
          <a:solidFill>
            <a:srgbClr val="1C2D48"/>
          </a:solidFill>
          <a:ln>
            <a:solidFill>
              <a:srgbClr val="1C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359152"/>
            <a:ext cx="411480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300" b="1">
                <a:solidFill>
                  <a:srgbClr val="1A9184"/>
                </a:solidFill>
                <a:latin typeface="Aptos"/>
              </a:rPr>
              <a:t>FastAPI scoring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852928"/>
            <a:ext cx="4206240" cy="164592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sz="1200"/>
              <a:t>Single-SKU forecast endpoint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sz="1200"/>
              <a:t>Batch forecast endpoint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sz="1200"/>
              <a:t>Swagger documentation</a:t>
            </a:r>
          </a:p>
          <a:p>
            <a:pPr>
              <a:spcAft>
                <a:spcPts val="5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sz="1200"/>
              <a:t>Structured validation for bad 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23560"/>
            <a:ext cx="1051560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200" b="0">
                <a:solidFill>
                  <a:srgbClr val="BECDDC"/>
                </a:solidFill>
                <a:latin typeface="Aptos"/>
              </a:rPr>
              <a:t>Hosted components are separated: presentation for decisions, API for repeatable integration.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FORESIGHT  |  NorthBay Living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r"/>
            <a:r>
              <a:rPr sz="900" b="1">
                <a:solidFill>
                  <a:srgbClr val="31BEC9"/>
                </a:solidFill>
                <a:latin typeface="Aptos"/>
              </a:rPr>
              <a:t>07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349240"/>
            <a:ext cx="10835640" cy="713232"/>
          </a:xfrm>
          <a:prstGeom prst="roundRect">
            <a:avLst/>
          </a:prstGeom>
          <a:solidFill>
            <a:srgbClr val="1E3454"/>
          </a:solidFill>
          <a:ln>
            <a:solidFill>
              <a:srgbClr val="1E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5349240"/>
            <a:ext cx="91440" cy="713232"/>
          </a:xfrm>
          <a:prstGeom prst="rect">
            <a:avLst/>
          </a:prstGeom>
          <a:solidFill>
            <a:srgbClr val="2C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468112"/>
            <a:ext cx="10241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4F7FC"/>
                </a:solidFill>
                <a:latin typeface="Aptos"/>
              </a:rPr>
              <a:t>USER-UPLOADED DATA: Any user can upload compatible CSV data; the dashboard recalculates KPIs, forecasts, inventory risk, reorder/markdown lists and SKU insights for that dataset.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000" b="1">
                <a:solidFill>
                  <a:srgbClr val="31BEC9"/>
                </a:solidFill>
                <a:latin typeface="Aptos"/>
              </a:rPr>
              <a:t>07 /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 Display"/>
              </a:rPr>
              <a:t>Use the output with clear controls and known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212080" cy="3520440"/>
          </a:xfrm>
          <a:prstGeom prst="roundRect">
            <a:avLst/>
          </a:prstGeom>
          <a:solidFill>
            <a:srgbClr val="1C2D48"/>
          </a:solidFill>
          <a:ln>
            <a:solidFill>
              <a:srgbClr val="1C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40280"/>
            <a:ext cx="320040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300" b="1">
                <a:solidFill>
                  <a:srgbClr val="F28F3A"/>
                </a:solidFill>
                <a:latin typeface="Aptos"/>
              </a:rPr>
              <a:t>Known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97480"/>
            <a:ext cx="4480560" cy="192024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sz="1200"/>
              <a:t>Lead time and reorder-point fields were not available.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sz="1200"/>
              <a:t>Accuracy can vary by SKU, season and promotion.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sz="1200"/>
              <a:t>Rupee risk is an estimate based on model and inventory inputs.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920240"/>
            <a:ext cx="5120640" cy="3520440"/>
          </a:xfrm>
          <a:prstGeom prst="roundRect">
            <a:avLst/>
          </a:prstGeom>
          <a:solidFill>
            <a:srgbClr val="1C2D48"/>
          </a:solidFill>
          <a:ln>
            <a:solidFill>
              <a:srgbClr val="1C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240280"/>
            <a:ext cx="347472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300" b="1">
                <a:solidFill>
                  <a:srgbClr val="31BEC9"/>
                </a:solidFill>
                <a:latin typeface="Aptos"/>
              </a:rPr>
              <a:t>Recommended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697480"/>
            <a:ext cx="4434840" cy="192024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sz="1200"/>
              <a:t>Review forecast error by SKU and time period.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sz="1200"/>
              <a:t>Validate key recommendations before purchase release.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sz="1200"/>
              <a:t>Add lead time, service level and supplier constraints in the next version.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FORESIGHT  |  NorthBay Living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r"/>
            <a:r>
              <a:rPr sz="900" b="1">
                <a:solidFill>
                  <a:srgbClr val="31BEC9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000" b="1">
                <a:solidFill>
                  <a:srgbClr val="31BEC9"/>
                </a:solidFill>
                <a:latin typeface="Aptos"/>
              </a:rPr>
              <a:t>08 /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 Display"/>
              </a:rPr>
              <a:t>Move from pilot visibility to controlled operating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41148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300" b="1">
                <a:solidFill>
                  <a:srgbClr val="31BEC9"/>
                </a:solidFill>
                <a:latin typeface="Aptos Display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965960"/>
            <a:ext cx="310896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Operational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965960"/>
            <a:ext cx="649224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300" b="0">
                <a:solidFill>
                  <a:srgbClr val="BECDDC"/>
                </a:solidFill>
                <a:latin typeface="Aptos"/>
              </a:rPr>
              <a:t>Review top-risk SKUs with inventory and finance teams.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8760" y="2468880"/>
            <a:ext cx="9509760" cy="13716"/>
          </a:xfrm>
          <a:prstGeom prst="rect">
            <a:avLst/>
          </a:prstGeom>
          <a:solidFill>
            <a:srgbClr val="3F536E"/>
          </a:solidFill>
          <a:ln>
            <a:solidFill>
              <a:srgbClr val="3F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34639"/>
            <a:ext cx="41148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300" b="1">
                <a:solidFill>
                  <a:srgbClr val="31BEC9"/>
                </a:solidFill>
                <a:latin typeface="Aptos Displa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834639"/>
            <a:ext cx="310896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Input enrichment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834639"/>
            <a:ext cx="649224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300" b="0">
                <a:solidFill>
                  <a:srgbClr val="BECDDC"/>
                </a:solidFill>
                <a:latin typeface="Aptos"/>
              </a:rPr>
              <a:t>Add lead time, reorder points, supplier and service-level data.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8760" y="3337559"/>
            <a:ext cx="9509760" cy="13716"/>
          </a:xfrm>
          <a:prstGeom prst="rect">
            <a:avLst/>
          </a:prstGeom>
          <a:solidFill>
            <a:srgbClr val="3F536E"/>
          </a:solidFill>
          <a:ln>
            <a:solidFill>
              <a:srgbClr val="3F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03320"/>
            <a:ext cx="41148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300" b="1">
                <a:solidFill>
                  <a:srgbClr val="31BEC9"/>
                </a:solidFill>
                <a:latin typeface="Aptos Display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703320"/>
            <a:ext cx="310896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703320"/>
            <a:ext cx="649224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300" b="0">
                <a:solidFill>
                  <a:srgbClr val="BECDDC"/>
                </a:solidFill>
                <a:latin typeface="Aptos"/>
              </a:rPr>
              <a:t>Track WAPE, bias, stockout events and action adoption.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08760" y="4206240"/>
            <a:ext cx="9509760" cy="13716"/>
          </a:xfrm>
          <a:prstGeom prst="rect">
            <a:avLst/>
          </a:prstGeom>
          <a:solidFill>
            <a:srgbClr val="3F536E"/>
          </a:solidFill>
          <a:ln>
            <a:solidFill>
              <a:srgbClr val="3F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572000"/>
            <a:ext cx="41148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300" b="1">
                <a:solidFill>
                  <a:srgbClr val="31BEC9"/>
                </a:solidFill>
                <a:latin typeface="Aptos Display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572000"/>
            <a:ext cx="310896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572000"/>
            <a:ext cx="6492240" cy="27432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1300" b="0">
                <a:solidFill>
                  <a:srgbClr val="BECDDC"/>
                </a:solidFill>
                <a:latin typeface="Aptos"/>
              </a:rPr>
              <a:t>Connect the API to planning workflows and scheduled refreshes.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08760" y="5074920"/>
            <a:ext cx="9509760" cy="13716"/>
          </a:xfrm>
          <a:prstGeom prst="rect">
            <a:avLst/>
          </a:prstGeom>
          <a:solidFill>
            <a:srgbClr val="3F536E"/>
          </a:solidFill>
          <a:ln>
            <a:solidFill>
              <a:srgbClr val="3F5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5715000"/>
            <a:ext cx="10561320" cy="411480"/>
          </a:xfrm>
          <a:prstGeom prst="roundRect">
            <a:avLst/>
          </a:prstGeom>
          <a:solidFill>
            <a:srgbClr val="1A9184"/>
          </a:solidFill>
          <a:ln>
            <a:solidFill>
              <a:srgbClr val="1A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815584"/>
            <a:ext cx="9966960" cy="182880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Decision requested: approve a controlled validation cycle before broader operational adoption.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FORESIGHT  |  NorthBay Living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63500" rIns="63500" anchor="t" tIns="38100" bIns="38100">
            <a:normAutofit/>
          </a:bodyPr>
          <a:lstStyle/>
          <a:p>
            <a:pPr algn="r"/>
            <a:r>
              <a:rPr sz="900" b="1">
                <a:solidFill>
                  <a:srgbClr val="31BEC9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74320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rmAutofit/>
          </a:bodyPr>
          <a:lstStyle/>
          <a:p>
            <a:pPr algn="l"/>
            <a:r>
              <a:rPr sz="1000" b="1">
                <a:solidFill>
                  <a:srgbClr val="31BEC9"/>
                </a:solidFill>
                <a:latin typeface="Aptos"/>
              </a:rPr>
              <a:t>09 / 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rm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 Display"/>
              </a:rPr>
              <a:t>How the complete FORESIGHT system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972800" cy="320040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rmAutofit/>
          </a:bodyPr>
          <a:lstStyle/>
          <a:p>
            <a:pPr algn="l"/>
            <a:r>
              <a:rPr sz="1200" b="0">
                <a:solidFill>
                  <a:srgbClr val="A0B2C6"/>
                </a:solidFill>
                <a:latin typeface="Aptos"/>
              </a:rPr>
              <a:t>One workflow connects historical data, machine learning, inventory risk and business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10607040" cy="658368"/>
          </a:xfrm>
          <a:prstGeom prst="roundRect">
            <a:avLst/>
          </a:prstGeom>
          <a:solidFill>
            <a:srgbClr val="1C2D48"/>
          </a:solidFill>
          <a:ln>
            <a:solidFill>
              <a:srgbClr val="1C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109728" cy="658368"/>
          </a:xfrm>
          <a:prstGeom prst="rect">
            <a:avLst/>
          </a:prstGeom>
          <a:solidFill>
            <a:srgbClr val="2165AC"/>
          </a:solidFill>
          <a:ln>
            <a:solidFill>
              <a:srgbClr val="2165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84248"/>
            <a:ext cx="1828800" cy="201168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rmAutofit/>
          </a:bodyPr>
          <a:lstStyle/>
          <a:p>
            <a:pPr algn="l"/>
            <a:r>
              <a:rPr sz="1100" b="1">
                <a:solidFill>
                  <a:srgbClr val="2165AC"/>
                </a:solidFill>
                <a:latin typeface="Aptos"/>
              </a:rPr>
              <a:t>DATA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947672"/>
            <a:ext cx="8046720" cy="384048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rm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Raw inventory data
Processed tables • quality 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2532887"/>
            <a:ext cx="365760" cy="228600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rmAutofit/>
          </a:bodyPr>
          <a:lstStyle/>
          <a:p>
            <a:pPr algn="ctr"/>
            <a:r>
              <a:rPr sz="1300" b="1">
                <a:solidFill>
                  <a:srgbClr val="31BEC9"/>
                </a:solidFill>
                <a:latin typeface="Aptos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15768"/>
            <a:ext cx="10607040" cy="658368"/>
          </a:xfrm>
          <a:prstGeom prst="roundRect">
            <a:avLst/>
          </a:prstGeom>
          <a:solidFill>
            <a:srgbClr val="1C2D48"/>
          </a:solidFill>
          <a:ln>
            <a:solidFill>
              <a:srgbClr val="1C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715768"/>
            <a:ext cx="109728" cy="658368"/>
          </a:xfrm>
          <a:prstGeom prst="rect">
            <a:avLst/>
          </a:prstGeom>
          <a:solidFill>
            <a:srgbClr val="31BEC9"/>
          </a:solidFill>
          <a:ln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825496"/>
            <a:ext cx="1828800" cy="201168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rmAutofit/>
          </a:bodyPr>
          <a:lstStyle/>
          <a:p>
            <a:pPr algn="l"/>
            <a:r>
              <a:rPr sz="1100" b="1">
                <a:solidFill>
                  <a:srgbClr val="31BEC9"/>
                </a:solidFill>
                <a:latin typeface="Aptos"/>
              </a:rPr>
              <a:t>FEATURE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788920"/>
            <a:ext cx="8046720" cy="384048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rm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Lag features • rolling statistics
Calendar • promotion • inventory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3374135"/>
            <a:ext cx="365760" cy="228600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rmAutofit/>
          </a:bodyPr>
          <a:lstStyle/>
          <a:p>
            <a:pPr algn="ctr"/>
            <a:r>
              <a:rPr sz="1300" b="1">
                <a:solidFill>
                  <a:srgbClr val="31BEC9"/>
                </a:solidFill>
                <a:latin typeface="Aptos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57015"/>
            <a:ext cx="10607040" cy="658368"/>
          </a:xfrm>
          <a:prstGeom prst="roundRect">
            <a:avLst/>
          </a:prstGeom>
          <a:solidFill>
            <a:srgbClr val="1C2D48"/>
          </a:solidFill>
          <a:ln>
            <a:solidFill>
              <a:srgbClr val="1C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557015"/>
            <a:ext cx="109728" cy="658368"/>
          </a:xfrm>
          <a:prstGeom prst="rect">
            <a:avLst/>
          </a:prstGeom>
          <a:solidFill>
            <a:srgbClr val="1A9184"/>
          </a:solidFill>
          <a:ln>
            <a:solidFill>
              <a:srgbClr val="1A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666744"/>
            <a:ext cx="1828800" cy="201168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rmAutofit/>
          </a:bodyPr>
          <a:lstStyle/>
          <a:p>
            <a:pPr algn="l"/>
            <a:r>
              <a:rPr sz="1100" b="1">
                <a:solidFill>
                  <a:srgbClr val="1A9184"/>
                </a:solidFill>
                <a:latin typeface="Aptos"/>
              </a:rPr>
              <a:t>ML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630168"/>
            <a:ext cx="8046720" cy="384048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rm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Baseline comparison
Random Forest / Gradient Boosting
Rolling-origin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4215383"/>
            <a:ext cx="365760" cy="228600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rmAutofit/>
          </a:bodyPr>
          <a:lstStyle/>
          <a:p>
            <a:pPr algn="ctr"/>
            <a:r>
              <a:rPr sz="1300" b="1">
                <a:solidFill>
                  <a:srgbClr val="31BEC9"/>
                </a:solidFill>
                <a:latin typeface="Aptos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398264"/>
            <a:ext cx="10607040" cy="658368"/>
          </a:xfrm>
          <a:prstGeom prst="roundRect">
            <a:avLst/>
          </a:prstGeom>
          <a:solidFill>
            <a:srgbClr val="1C2D48"/>
          </a:solidFill>
          <a:ln>
            <a:solidFill>
              <a:srgbClr val="1C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398264"/>
            <a:ext cx="109728" cy="658368"/>
          </a:xfrm>
          <a:prstGeom prst="rect">
            <a:avLst/>
          </a:prstGeom>
          <a:solidFill>
            <a:srgbClr val="F28F3A"/>
          </a:solidFill>
          <a:ln>
            <a:solidFill>
              <a:srgbClr val="F28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507992"/>
            <a:ext cx="1828800" cy="201168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rmAutofit/>
          </a:bodyPr>
          <a:lstStyle/>
          <a:p>
            <a:pPr algn="l"/>
            <a:r>
              <a:rPr sz="1100" b="1">
                <a:solidFill>
                  <a:srgbClr val="F28F3A"/>
                </a:solidFill>
                <a:latin typeface="Aptos"/>
              </a:rPr>
              <a:t>DECISION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71416"/>
            <a:ext cx="8046720" cy="384048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rm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Forecast demand
Shortfall / excess units
Risk level • rupee exposure •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5056631"/>
            <a:ext cx="365760" cy="228600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rmAutofit/>
          </a:bodyPr>
          <a:lstStyle/>
          <a:p>
            <a:pPr algn="ctr"/>
            <a:r>
              <a:rPr sz="1300" b="1">
                <a:solidFill>
                  <a:srgbClr val="31BEC9"/>
                </a:solidFill>
                <a:latin typeface="Aptos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239512"/>
            <a:ext cx="10607040" cy="658368"/>
          </a:xfrm>
          <a:prstGeom prst="roundRect">
            <a:avLst/>
          </a:prstGeom>
          <a:solidFill>
            <a:srgbClr val="1C2D48"/>
          </a:solidFill>
          <a:ln>
            <a:solidFill>
              <a:srgbClr val="1C2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5239512"/>
            <a:ext cx="109728" cy="658368"/>
          </a:xfrm>
          <a:prstGeom prst="rect">
            <a:avLst/>
          </a:prstGeom>
          <a:solidFill>
            <a:srgbClr val="B55CAE"/>
          </a:solidFill>
          <a:ln>
            <a:solidFill>
              <a:srgbClr val="B55C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5349240"/>
            <a:ext cx="1828800" cy="201168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rmAutofit/>
          </a:bodyPr>
          <a:lstStyle/>
          <a:p>
            <a:pPr algn="l"/>
            <a:r>
              <a:rPr sz="1100" b="1">
                <a:solidFill>
                  <a:srgbClr val="B55CAE"/>
                </a:solidFill>
                <a:latin typeface="Aptos"/>
              </a:rPr>
              <a:t>DELIVERY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5312664"/>
            <a:ext cx="8046720" cy="384048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rm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Streamlit dashboard
FastAPI + Swagger
Single and batch scoring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6172200"/>
            <a:ext cx="10607040" cy="320040"/>
          </a:xfrm>
          <a:prstGeom prst="roundRect">
            <a:avLst/>
          </a:prstGeom>
          <a:solidFill>
            <a:srgbClr val="1A9184"/>
          </a:solidFill>
          <a:ln>
            <a:solidFill>
              <a:srgbClr val="1A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6245352"/>
            <a:ext cx="10241280" cy="164592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Business outcome: prioritize replenishment decisions using a transparent and repeatable scoring process.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rmAutofit/>
          </a:bodyPr>
          <a:lstStyle/>
          <a:p>
            <a:pPr algn="l"/>
            <a:r>
              <a:rPr sz="800" b="0">
                <a:solidFill>
                  <a:srgbClr val="A0B2C6"/>
                </a:solidFill>
                <a:latin typeface="Aptos"/>
              </a:rPr>
              <a:t>FORESIGHT  |  NorthBay Living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rmAutofit/>
          </a:bodyPr>
          <a:lstStyle/>
          <a:p>
            <a:pPr algn="r"/>
            <a:r>
              <a:rPr sz="900" b="1">
                <a:solidFill>
                  <a:srgbClr val="31BEC9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7FC"/>
                </a:solidFill>
                <a:latin typeface="Aptos"/>
              </a:rPr>
              <a:t>Dashboard Overview &amp; User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5C4D8"/>
                </a:solidFill>
                <a:latin typeface="Aptos"/>
              </a:rPr>
              <a:t>Interactive workflow: upload your own compatible CSV data and receive dataset-specific dashboard results.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188720" cy="50292"/>
          </a:xfrm>
          <a:prstGeom prst="rect">
            <a:avLst/>
          </a:prstGeom>
          <a:solidFill>
            <a:srgbClr val="2C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74720" cy="1920240"/>
          </a:xfrm>
          <a:prstGeom prst="roundRect">
            <a:avLst/>
          </a:prstGeom>
          <a:solidFill>
            <a:srgbClr val="1E3454"/>
          </a:solidFill>
          <a:ln>
            <a:solidFill>
              <a:srgbClr val="1E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920240"/>
          </a:xfrm>
          <a:prstGeom prst="rect">
            <a:avLst/>
          </a:prstGeom>
          <a:solidFill>
            <a:srgbClr val="2C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3154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1. Upload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20240"/>
            <a:ext cx="3154679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4D8"/>
                </a:solidFill>
                <a:latin typeface="Aptos"/>
              </a:rPr>
              <a:t>• Upload one or multiple CSV files
• Sales, inventory, SKU and calendar data
• Sidebar file guidance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474720" cy="1920240"/>
          </a:xfrm>
          <a:prstGeom prst="roundRect">
            <a:avLst/>
          </a:prstGeom>
          <a:solidFill>
            <a:srgbClr val="1E3454"/>
          </a:solidFill>
          <a:ln>
            <a:solidFill>
              <a:srgbClr val="1E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73152" cy="1920240"/>
          </a:xfrm>
          <a:prstGeom prst="rect">
            <a:avLst/>
          </a:prstGeom>
          <a:solidFill>
            <a:srgbClr val="2B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581912"/>
            <a:ext cx="3154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2. Explore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920240"/>
            <a:ext cx="3154679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4D8"/>
                </a:solidFill>
                <a:latin typeface="Aptos"/>
              </a:rPr>
              <a:t>• Uploaded data preview
• Combined data and standardized columns
• SKU mapping and consistency checks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474720" cy="1920240"/>
          </a:xfrm>
          <a:prstGeom prst="roundRect">
            <a:avLst/>
          </a:prstGeom>
          <a:solidFill>
            <a:srgbClr val="1E3454"/>
          </a:solidFill>
          <a:ln>
            <a:solidFill>
              <a:srgbClr val="1E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73152" cy="1920240"/>
          </a:xfrm>
          <a:prstGeom prst="rect">
            <a:avLst/>
          </a:prstGeom>
          <a:solidFill>
            <a:srgbClr val="1B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581912"/>
            <a:ext cx="3154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3. Take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20240"/>
            <a:ext cx="3154679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4D8"/>
                </a:solidFill>
                <a:latin typeface="Aptos"/>
              </a:rPr>
              <a:t>• Forecast and risk KPIs
• Reorder and markdown lists
• SKU drill-down and CSV export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79476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t>The dashboard recalculates the view from the user's uploaded data.</a:t>
            </a:r>
          </a:p>
          <a:p>
            <a:pPr>
              <a:spcAft>
                <a:spcPts val="7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t>Filters support All SKUs or a selected SKU, risk level and category.</a:t>
            </a:r>
          </a:p>
          <a:p>
            <a:pPr>
              <a:spcAft>
                <a:spcPts val="7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t>The same workflow supports management monitoring and detailed investigation.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7FC"/>
                </a:solidFill>
                <a:latin typeface="Aptos"/>
              </a:rPr>
              <a:t>Uploaded Data Preview &amp; Standardization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5C4D8"/>
                </a:solidFill>
                <a:latin typeface="Aptos"/>
              </a:rPr>
              <a:t>Validation and organization of uploaded files before risk reporting.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188720" cy="50292"/>
          </a:xfrm>
          <a:prstGeom prst="rect">
            <a:avLst/>
          </a:prstGeom>
          <a:solidFill>
            <a:srgbClr val="2C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03520" cy="1828800"/>
          </a:xfrm>
          <a:prstGeom prst="roundRect">
            <a:avLst/>
          </a:prstGeom>
          <a:solidFill>
            <a:srgbClr val="1E3454"/>
          </a:solidFill>
          <a:ln>
            <a:solidFill>
              <a:srgbClr val="1E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828800"/>
          </a:xfrm>
          <a:prstGeom prst="rect">
            <a:avLst/>
          </a:prstGeom>
          <a:solidFill>
            <a:srgbClr val="2B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Uploaded Data Preview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20240"/>
            <a:ext cx="498348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4D8"/>
                </a:solidFill>
                <a:latin typeface="Aptos"/>
              </a:rPr>
              <a:t>• File names and detected structures
• Sample records in a table
• Row and column counts
• Confirmation of selected files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303520" cy="1828800"/>
          </a:xfrm>
          <a:prstGeom prst="roundRect">
            <a:avLst/>
          </a:prstGeom>
          <a:solidFill>
            <a:srgbClr val="1E3454"/>
          </a:solidFill>
          <a:ln>
            <a:solidFill>
              <a:srgbClr val="1E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73152" cy="1828800"/>
          </a:xfrm>
          <a:prstGeom prst="rect">
            <a:avLst/>
          </a:prstGeom>
          <a:solidFill>
            <a:srgbClr val="2C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58191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Standardized Uploaded Columns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920240"/>
            <a:ext cx="498348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4D8"/>
                </a:solidFill>
                <a:latin typeface="Aptos"/>
              </a:rPr>
              <a:t>• Common schema mapping
• SKU, date, demand, inventory and price alignment
• Consistent processing across CSV formats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20440"/>
            <a:ext cx="5303520" cy="1828800"/>
          </a:xfrm>
          <a:prstGeom prst="roundRect">
            <a:avLst/>
          </a:prstGeom>
          <a:solidFill>
            <a:srgbClr val="1E3454"/>
          </a:solidFill>
          <a:ln>
            <a:solidFill>
              <a:srgbClr val="1E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20440"/>
            <a:ext cx="73152" cy="1828800"/>
          </a:xfrm>
          <a:prstGeom prst="rect">
            <a:avLst/>
          </a:prstGeom>
          <a:solidFill>
            <a:srgbClr val="1B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68503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Combined Uploaded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23360"/>
            <a:ext cx="498348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4D8"/>
                </a:solidFill>
                <a:latin typeface="Aptos"/>
              </a:rPr>
              <a:t>• Combines uploaded business files
• Displays total rows and columns
• Retains detected SKU universe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520440"/>
            <a:ext cx="5303520" cy="1828800"/>
          </a:xfrm>
          <a:prstGeom prst="roundRect">
            <a:avLst/>
          </a:prstGeom>
          <a:solidFill>
            <a:srgbClr val="1E3454"/>
          </a:solidFill>
          <a:ln>
            <a:solidFill>
              <a:srgbClr val="1E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520440"/>
            <a:ext cx="73152" cy="1828800"/>
          </a:xfrm>
          <a:prstGeom prst="rect">
            <a:avLst/>
          </a:prstGeom>
          <a:solidFill>
            <a:srgbClr val="F4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368503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SKU Mapping Diagnostics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4023360"/>
            <a:ext cx="498348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4D8"/>
                </a:solidFill>
                <a:latin typeface="Aptos"/>
              </a:rPr>
              <a:t>• Duplicate and inconsistent SKU checks
• Mapping issues highlighted
• More reliable SKU-level calculations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7FC"/>
                </a:solidFill>
                <a:latin typeface="Aptos"/>
              </a:rPr>
              <a:t>Executive KPIs &amp; Risk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5C4D8"/>
                </a:solidFill>
                <a:latin typeface="Aptos"/>
              </a:rPr>
              <a:t>Top-level metrics change with the active SKU and risk filters.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188720" cy="50292"/>
          </a:xfrm>
          <a:prstGeom prst="rect">
            <a:avLst/>
          </a:prstGeom>
          <a:solidFill>
            <a:srgbClr val="2C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560320" cy="1508760"/>
          </a:xfrm>
          <a:prstGeom prst="roundRect">
            <a:avLst/>
          </a:prstGeom>
          <a:solidFill>
            <a:srgbClr val="1E3454"/>
          </a:solidFill>
          <a:ln>
            <a:solidFill>
              <a:srgbClr val="1E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508760"/>
          </a:xfrm>
          <a:prstGeom prst="rect">
            <a:avLst/>
          </a:prstGeom>
          <a:solidFill>
            <a:srgbClr val="2C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2240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Total SKUs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20240"/>
            <a:ext cx="2240279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4D8"/>
                </a:solidFill>
                <a:latin typeface="Aptos"/>
              </a:rPr>
              <a:t>Unique SKUs in the active filtered dataset.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417320"/>
            <a:ext cx="2560320" cy="1508760"/>
          </a:xfrm>
          <a:prstGeom prst="roundRect">
            <a:avLst/>
          </a:prstGeom>
          <a:solidFill>
            <a:srgbClr val="1E3454"/>
          </a:solidFill>
          <a:ln>
            <a:solidFill>
              <a:srgbClr val="1E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417320"/>
            <a:ext cx="73152" cy="1508760"/>
          </a:xfrm>
          <a:prstGeom prst="rect">
            <a:avLst/>
          </a:prstGeom>
          <a:solidFill>
            <a:srgbClr val="2B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581912"/>
            <a:ext cx="2240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Forecast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1920240"/>
            <a:ext cx="2240279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4D8"/>
                </a:solidFill>
                <a:latin typeface="Aptos"/>
              </a:rPr>
              <a:t>Total forecast demand for selected SKUs.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417320"/>
            <a:ext cx="2560320" cy="1508760"/>
          </a:xfrm>
          <a:prstGeom prst="roundRect">
            <a:avLst/>
          </a:prstGeom>
          <a:solidFill>
            <a:srgbClr val="1E3454"/>
          </a:solidFill>
          <a:ln>
            <a:solidFill>
              <a:srgbClr val="1E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417320"/>
            <a:ext cx="73152" cy="1508760"/>
          </a:xfrm>
          <a:prstGeom prst="rect">
            <a:avLst/>
          </a:prstGeom>
          <a:solidFill>
            <a:srgbClr val="F4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581912"/>
            <a:ext cx="2240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Value at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1920240"/>
            <a:ext cx="2240279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4D8"/>
                </a:solidFill>
                <a:latin typeface="Aptos"/>
              </a:rPr>
              <a:t>Estimated exposure linked to inventory shortfall.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1417320"/>
            <a:ext cx="2560320" cy="1508760"/>
          </a:xfrm>
          <a:prstGeom prst="roundRect">
            <a:avLst/>
          </a:prstGeom>
          <a:solidFill>
            <a:srgbClr val="1E3454"/>
          </a:solidFill>
          <a:ln>
            <a:solidFill>
              <a:srgbClr val="1E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9680" y="1417320"/>
            <a:ext cx="73152" cy="1508760"/>
          </a:xfrm>
          <a:prstGeom prst="rect">
            <a:avLst/>
          </a:prstGeom>
          <a:solidFill>
            <a:srgbClr val="DA4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581912"/>
            <a:ext cx="2240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At High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0848" y="1920240"/>
            <a:ext cx="2240279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4D8"/>
                </a:solidFill>
                <a:latin typeface="Aptos"/>
              </a:rPr>
              <a:t>SKUs requiring urgent attention.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337560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t>Risk Overview groups SKUs by risk level.</a:t>
            </a:r>
          </a:p>
          <a:p>
            <a:pPr>
              <a:spcAft>
                <a:spcPts val="7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t>Risk chart visualizes counts by category.</a:t>
            </a:r>
          </a:p>
          <a:p>
            <a:pPr>
              <a:spcAft>
                <a:spcPts val="7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t>Categories include Reorder Now, Monitor and Overstock.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337560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t>Risk Summary separates reorder, overstock, combined risk and no-immediate-risk groups.</a:t>
            </a:r>
          </a:p>
          <a:p>
            <a:pPr>
              <a:spcAft>
                <a:spcPts val="7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t>Sidebar filters support focused SKU-level investigation.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7FC"/>
                </a:solidFill>
                <a:latin typeface="Aptos"/>
              </a:rPr>
              <a:t>Forecast Analysis &amp; Uncertainty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5C4D8"/>
                </a:solidFill>
                <a:latin typeface="Aptos"/>
              </a:rPr>
              <a:t>Compare demand history with forecast output and uncertainty.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188720" cy="50292"/>
          </a:xfrm>
          <a:prstGeom prst="rect">
            <a:avLst/>
          </a:prstGeom>
          <a:solidFill>
            <a:srgbClr val="2C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03520" cy="1828800"/>
          </a:xfrm>
          <a:prstGeom prst="roundRect">
            <a:avLst/>
          </a:prstGeom>
          <a:solidFill>
            <a:srgbClr val="1E3454"/>
          </a:solidFill>
          <a:ln>
            <a:solidFill>
              <a:srgbClr val="1E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828800"/>
          </a:xfrm>
          <a:prstGeom prst="rect">
            <a:avLst/>
          </a:prstGeom>
          <a:solidFill>
            <a:srgbClr val="2B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Forecast Date Filter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20240"/>
            <a:ext cx="498348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4D8"/>
                </a:solidFill>
                <a:latin typeface="Aptos"/>
              </a:rPr>
              <a:t>• Select forecast date range
• View active forecast horizon
• Analyze a specific period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303520" cy="1828800"/>
          </a:xfrm>
          <a:prstGeom prst="roundRect">
            <a:avLst/>
          </a:prstGeom>
          <a:solidFill>
            <a:srgbClr val="1E3454"/>
          </a:solidFill>
          <a:ln>
            <a:solidFill>
              <a:srgbClr val="1E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73152" cy="1828800"/>
          </a:xfrm>
          <a:prstGeom prst="rect">
            <a:avLst/>
          </a:prstGeom>
          <a:solidFill>
            <a:srgbClr val="2C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58191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Forecast vs Actual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920240"/>
            <a:ext cx="498348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4D8"/>
                </a:solidFill>
                <a:latin typeface="Aptos"/>
              </a:rPr>
              <a:t>• Aggregate actual and forecast demand
• Selected-SKU demand view
• Time-based trend chart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20440"/>
            <a:ext cx="5303520" cy="1828800"/>
          </a:xfrm>
          <a:prstGeom prst="roundRect">
            <a:avLst/>
          </a:prstGeom>
          <a:solidFill>
            <a:srgbClr val="1E3454"/>
          </a:solidFill>
          <a:ln>
            <a:solidFill>
              <a:srgbClr val="1E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20440"/>
            <a:ext cx="73152" cy="1828800"/>
          </a:xfrm>
          <a:prstGeom prst="rect">
            <a:avLst/>
          </a:prstGeom>
          <a:solidFill>
            <a:srgbClr val="F4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68503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Forecast Uncertainty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23360"/>
            <a:ext cx="498348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4D8"/>
                </a:solidFill>
                <a:latin typeface="Aptos"/>
              </a:rPr>
              <a:t>• Aggregate uncertainty
• Selected-SKU inspection
• Identify weaker-confidence periods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520440"/>
            <a:ext cx="5303520" cy="1828800"/>
          </a:xfrm>
          <a:prstGeom prst="roundRect">
            <a:avLst/>
          </a:prstGeom>
          <a:solidFill>
            <a:srgbClr val="1E3454"/>
          </a:solidFill>
          <a:ln>
            <a:solidFill>
              <a:srgbClr val="1E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520440"/>
            <a:ext cx="73152" cy="1828800"/>
          </a:xfrm>
          <a:prstGeom prst="rect">
            <a:avLst/>
          </a:prstGeom>
          <a:solidFill>
            <a:srgbClr val="1B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368503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Selected SKU Forecast Trend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4023360"/>
            <a:ext cx="498348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4D8"/>
                </a:solidFill>
                <a:latin typeface="Aptos"/>
              </a:rPr>
              <a:t>• Appears for a selected SKU
• Shows forecast trend over time
• Supports focused decisions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7FC"/>
                </a:solidFill>
                <a:latin typeface="Aptos"/>
              </a:rPr>
              <a:t>Inventory Coverage, Reorder &amp; Markdown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5C4D8"/>
                </a:solidFill>
                <a:latin typeface="Aptos"/>
              </a:rPr>
              <a:t>Translate demand and inventory signals into operational action lists.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188720" cy="50292"/>
          </a:xfrm>
          <a:prstGeom prst="rect">
            <a:avLst/>
          </a:prstGeom>
          <a:solidFill>
            <a:srgbClr val="2C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74720" cy="1874519"/>
          </a:xfrm>
          <a:prstGeom prst="roundRect">
            <a:avLst/>
          </a:prstGeom>
          <a:solidFill>
            <a:srgbClr val="1E3454"/>
          </a:solidFill>
          <a:ln>
            <a:solidFill>
              <a:srgbClr val="1E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874519"/>
          </a:xfrm>
          <a:prstGeom prst="rect">
            <a:avLst/>
          </a:prstGeom>
          <a:solidFill>
            <a:srgbClr val="2C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3154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Inventory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20240"/>
            <a:ext cx="3154679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4D8"/>
                </a:solidFill>
                <a:latin typeface="Aptos"/>
              </a:rPr>
              <a:t>• 12-week forecast demand
• Available inventory
• Coverage indicator
• Coverage against forecast demand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474720" cy="1874519"/>
          </a:xfrm>
          <a:prstGeom prst="roundRect">
            <a:avLst/>
          </a:prstGeom>
          <a:solidFill>
            <a:srgbClr val="1E3454"/>
          </a:solidFill>
          <a:ln>
            <a:solidFill>
              <a:srgbClr val="1E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73152" cy="1874519"/>
          </a:xfrm>
          <a:prstGeom prst="rect">
            <a:avLst/>
          </a:prstGeom>
          <a:solidFill>
            <a:srgbClr val="2B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581912"/>
            <a:ext cx="3154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Demand vs Available 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920240"/>
            <a:ext cx="3154679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4D8"/>
                </a:solidFill>
                <a:latin typeface="Aptos"/>
              </a:rPr>
              <a:t>• Demand and inventory comparison
• Shortage or excess-stock view
• Supply prioritization support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474720" cy="1874519"/>
          </a:xfrm>
          <a:prstGeom prst="roundRect">
            <a:avLst/>
          </a:prstGeom>
          <a:solidFill>
            <a:srgbClr val="1E3454"/>
          </a:solidFill>
          <a:ln>
            <a:solidFill>
              <a:srgbClr val="1E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73152" cy="1874519"/>
          </a:xfrm>
          <a:prstGeom prst="rect">
            <a:avLst/>
          </a:prstGeom>
          <a:solidFill>
            <a:srgbClr val="1B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581912"/>
            <a:ext cx="3154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Prioritized Reorder 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20240"/>
            <a:ext cx="3154679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4D8"/>
                </a:solidFill>
                <a:latin typeface="Aptos"/>
              </a:rPr>
              <a:t>• SKUs requiring reorder
• Urgent inventory attention
• Replenishment planning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11880"/>
            <a:ext cx="5303520" cy="1828800"/>
          </a:xfrm>
          <a:prstGeom prst="roundRect">
            <a:avLst/>
          </a:prstGeom>
          <a:solidFill>
            <a:srgbClr val="1E3454"/>
          </a:solidFill>
          <a:ln>
            <a:solidFill>
              <a:srgbClr val="1E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611880"/>
            <a:ext cx="73152" cy="1828800"/>
          </a:xfrm>
          <a:prstGeom prst="rect">
            <a:avLst/>
          </a:prstGeom>
          <a:solidFill>
            <a:srgbClr val="F4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77647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Markdown / Clear 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114800"/>
            <a:ext cx="498348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4D8"/>
                </a:solidFill>
                <a:latin typeface="Aptos"/>
              </a:rPr>
              <a:t>• Overstock-risk SKUs
• Markdown or clearance planning
• Reduce excess inventory exposure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11880"/>
            <a:ext cx="5303520" cy="1828800"/>
          </a:xfrm>
          <a:prstGeom prst="roundRect">
            <a:avLst/>
          </a:prstGeom>
          <a:solidFill>
            <a:srgbClr val="1E3454"/>
          </a:solidFill>
          <a:ln>
            <a:solidFill>
              <a:srgbClr val="1E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611880"/>
            <a:ext cx="73152" cy="1828800"/>
          </a:xfrm>
          <a:prstGeom prst="rect">
            <a:avLst/>
          </a:prstGeom>
          <a:solidFill>
            <a:srgbClr val="2B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377647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Inventory Risk Decision Grid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114800"/>
            <a:ext cx="498348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4D8"/>
                </a:solidFill>
                <a:latin typeface="Aptos"/>
              </a:rPr>
              <a:t>• Tabular risk decision view
• SKU-level operational indicators
• Easier review and export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7FC"/>
                </a:solidFill>
                <a:latin typeface="Aptos"/>
              </a:rPr>
              <a:t>SKU Drill-Down &amp; Financial Exposure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5C4D8"/>
                </a:solidFill>
                <a:latin typeface="Aptos"/>
              </a:rPr>
              <a:t>Selecting a SKU changes the detail section to that SKU's operational position.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188720" cy="50292"/>
          </a:xfrm>
          <a:prstGeom prst="rect">
            <a:avLst/>
          </a:prstGeom>
          <a:solidFill>
            <a:srgbClr val="2C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03520" cy="1874519"/>
          </a:xfrm>
          <a:prstGeom prst="roundRect">
            <a:avLst/>
          </a:prstGeom>
          <a:solidFill>
            <a:srgbClr val="1E3454"/>
          </a:solidFill>
          <a:ln>
            <a:solidFill>
              <a:srgbClr val="1E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874519"/>
          </a:xfrm>
          <a:prstGeom prst="rect">
            <a:avLst/>
          </a:prstGeom>
          <a:solidFill>
            <a:srgbClr val="2C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Selected SKU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20240"/>
            <a:ext cx="4983480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4D8"/>
                </a:solidFill>
                <a:latin typeface="Aptos"/>
              </a:rPr>
              <a:t>• Forecast demand
• Available inventory
• 12-week value at risk
• Risk level and supporting information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303520" cy="1874519"/>
          </a:xfrm>
          <a:prstGeom prst="roundRect">
            <a:avLst/>
          </a:prstGeom>
          <a:solidFill>
            <a:srgbClr val="1E3454"/>
          </a:solidFill>
          <a:ln>
            <a:solidFill>
              <a:srgbClr val="1E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73152" cy="1874519"/>
          </a:xfrm>
          <a:prstGeom prst="rect">
            <a:avLst/>
          </a:prstGeom>
          <a:solidFill>
            <a:srgbClr val="F4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58191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Value at Risk by SKU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920240"/>
            <a:ext cx="4983480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4D8"/>
                </a:solidFill>
                <a:latin typeface="Aptos"/>
              </a:rPr>
              <a:t>• Highest financial exposure by SKU
• Chart for large exposures
• Finance and operations prioritization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11880"/>
            <a:ext cx="5303520" cy="1828800"/>
          </a:xfrm>
          <a:prstGeom prst="roundRect">
            <a:avLst/>
          </a:prstGeom>
          <a:solidFill>
            <a:srgbClr val="1E3454"/>
          </a:solidFill>
          <a:ln>
            <a:solidFill>
              <a:srgbClr val="1E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611880"/>
            <a:ext cx="73152" cy="1828800"/>
          </a:xfrm>
          <a:prstGeom prst="rect">
            <a:avLst/>
          </a:prstGeom>
          <a:solidFill>
            <a:srgbClr val="2B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77647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Risk 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114800"/>
            <a:ext cx="498348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4D8"/>
                </a:solidFill>
                <a:latin typeface="Aptos"/>
              </a:rPr>
              <a:t>Risk uses available inventory and forecast demand. Financial exposure is an estimate and should be validated against lead times, reorder points and supplier constraints.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611880"/>
            <a:ext cx="5303520" cy="1828800"/>
          </a:xfrm>
          <a:prstGeom prst="roundRect">
            <a:avLst/>
          </a:prstGeom>
          <a:solidFill>
            <a:srgbClr val="1E3454"/>
          </a:solidFill>
          <a:ln>
            <a:solidFill>
              <a:srgbClr val="1E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611880"/>
            <a:ext cx="73152" cy="1828800"/>
          </a:xfrm>
          <a:prstGeom prst="rect">
            <a:avLst/>
          </a:prstGeom>
          <a:solidFill>
            <a:srgbClr val="1B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377647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User-Specific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4114800"/>
            <a:ext cx="498348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4D8"/>
                </a:solidFill>
                <a:latin typeface="Aptos"/>
              </a:rPr>
              <a:t>A compatible uploaded dataset recalculates SKU details, risk counts, forecast totals, inventory indicators and action lists.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7FC"/>
                </a:solidFill>
                <a:latin typeface="Aptos"/>
              </a:rPr>
              <a:t>Model Performance, Executive Summary &amp; Export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5C4D8"/>
                </a:solidFill>
                <a:latin typeface="Aptos"/>
              </a:rPr>
              <a:t>Connect model results with management interpretation and reusable outputs.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188720" cy="50292"/>
          </a:xfrm>
          <a:prstGeom prst="rect">
            <a:avLst/>
          </a:prstGeom>
          <a:solidFill>
            <a:srgbClr val="2C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74720" cy="1874519"/>
          </a:xfrm>
          <a:prstGeom prst="roundRect">
            <a:avLst/>
          </a:prstGeom>
          <a:solidFill>
            <a:srgbClr val="1E3454"/>
          </a:solidFill>
          <a:ln>
            <a:solidFill>
              <a:srgbClr val="1E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874519"/>
          </a:xfrm>
          <a:prstGeom prst="rect">
            <a:avLst/>
          </a:prstGeom>
          <a:solidFill>
            <a:srgbClr val="2B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3154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Model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20240"/>
            <a:ext cx="3154679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4D8"/>
                </a:solidFill>
                <a:latin typeface="Aptos"/>
              </a:rPr>
              <a:t>• Final model WAPE
• Reported performance
• Relationship between risk KPIs and inventory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474720" cy="1874519"/>
          </a:xfrm>
          <a:prstGeom prst="roundRect">
            <a:avLst/>
          </a:prstGeom>
          <a:solidFill>
            <a:srgbClr val="1E3454"/>
          </a:solidFill>
          <a:ln>
            <a:solidFill>
              <a:srgbClr val="1E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73152" cy="1874519"/>
          </a:xfrm>
          <a:prstGeom prst="rect">
            <a:avLst/>
          </a:prstGeom>
          <a:solidFill>
            <a:srgbClr val="2C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581912"/>
            <a:ext cx="3154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Model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920240"/>
            <a:ext cx="3154679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4D8"/>
                </a:solidFill>
                <a:latin typeface="Aptos"/>
              </a:rPr>
              <a:t>• Seasonal Naive
• Random Forest
• Gradient Boosting
• Final reported result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474720" cy="1874519"/>
          </a:xfrm>
          <a:prstGeom prst="roundRect">
            <a:avLst/>
          </a:prstGeom>
          <a:solidFill>
            <a:srgbClr val="1E3454"/>
          </a:solidFill>
          <a:ln>
            <a:solidFill>
              <a:srgbClr val="1E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73152" cy="1874519"/>
          </a:xfrm>
          <a:prstGeom prst="rect">
            <a:avLst/>
          </a:prstGeom>
          <a:solidFill>
            <a:srgbClr val="1B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581912"/>
            <a:ext cx="3154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Executive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20240"/>
            <a:ext cx="3154679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4D8"/>
                </a:solidFill>
                <a:latin typeface="Aptos"/>
              </a:rPr>
              <a:t>• SKUs analysed
• SKUs requiring reorder
• Focus on highest-risk SKUs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11880"/>
            <a:ext cx="5303520" cy="1828800"/>
          </a:xfrm>
          <a:prstGeom prst="roundRect">
            <a:avLst/>
          </a:prstGeom>
          <a:solidFill>
            <a:srgbClr val="1E3454"/>
          </a:solidFill>
          <a:ln>
            <a:solidFill>
              <a:srgbClr val="1E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611880"/>
            <a:ext cx="73152" cy="1828800"/>
          </a:xfrm>
          <a:prstGeom prst="rect">
            <a:avLst/>
          </a:prstGeom>
          <a:solidFill>
            <a:srgbClr val="F48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77647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Download Filtered Risk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114800"/>
            <a:ext cx="498348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4D8"/>
                </a:solidFill>
                <a:latin typeface="Aptos"/>
              </a:rPr>
              <a:t>Download the currently filtered risk dataset as CSV for review, sharing or downstream use.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11880"/>
            <a:ext cx="5303520" cy="1828800"/>
          </a:xfrm>
          <a:prstGeom prst="roundRect">
            <a:avLst/>
          </a:prstGeom>
          <a:solidFill>
            <a:srgbClr val="1E3454"/>
          </a:solidFill>
          <a:ln>
            <a:solidFill>
              <a:srgbClr val="1E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611880"/>
            <a:ext cx="73152" cy="1828800"/>
          </a:xfrm>
          <a:prstGeom prst="rect">
            <a:avLst/>
          </a:prstGeom>
          <a:solidFill>
            <a:srgbClr val="2B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3776472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Data Quality &amp; Limitations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114800"/>
            <a:ext cx="498348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5C4D8"/>
                </a:solidFill>
                <a:latin typeface="Aptos"/>
              </a:rPr>
              <a:t>• Missing-value and duplicate checks
• SKU/category mapping limitations
• Available inventory and forecast-based risk
• Operational validation recommended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7FC"/>
                </a:solidFill>
                <a:latin typeface="Aptos"/>
              </a:rPr>
              <a:t>End-to-End Dashboard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5C4D8"/>
                </a:solidFill>
                <a:latin typeface="Aptos"/>
              </a:rPr>
              <a:t>One workflow from user-uploaded data to actionable inventory intelligence.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188720" cy="50292"/>
          </a:xfrm>
          <a:prstGeom prst="rect">
            <a:avLst/>
          </a:prstGeom>
          <a:solidFill>
            <a:srgbClr val="2C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F4F7FC"/>
                </a:solidFill>
                <a:latin typeface="Aptos"/>
              </a:defRPr>
            </a:pPr>
            <a:r>
              <a:t>Input: User uploads one or multiple compatible CSV files.</a:t>
            </a:r>
          </a:p>
          <a:p>
            <a:pPr>
              <a:spcAft>
                <a:spcPts val="700"/>
              </a:spcAft>
              <a:defRPr sz="1700">
                <a:solidFill>
                  <a:srgbClr val="F4F7FC"/>
                </a:solidFill>
                <a:latin typeface="Aptos"/>
              </a:defRPr>
            </a:pPr>
            <a:r>
              <a:t>Preparation: Application previews, standardizes and combines the data.</a:t>
            </a:r>
          </a:p>
          <a:p>
            <a:pPr>
              <a:spcAft>
                <a:spcPts val="700"/>
              </a:spcAft>
              <a:defRPr sz="1700">
                <a:solidFill>
                  <a:srgbClr val="F4F7FC"/>
                </a:solidFill>
                <a:latin typeface="Aptos"/>
              </a:defRPr>
            </a:pPr>
            <a:r>
              <a:t>Analysis: Demand, inventory and SKU-level risk indicators are calculated.</a:t>
            </a:r>
          </a:p>
          <a:p>
            <a:pPr>
              <a:spcAft>
                <a:spcPts val="700"/>
              </a:spcAft>
              <a:defRPr sz="1700">
                <a:solidFill>
                  <a:srgbClr val="F4F7FC"/>
                </a:solidFill>
                <a:latin typeface="Aptos"/>
              </a:defRPr>
            </a:pPr>
            <a:r>
              <a:t>Monitoring: Filters, trends, uncertainty, coverage and risk charts support exploration.</a:t>
            </a:r>
          </a:p>
          <a:p>
            <a:pPr>
              <a:spcAft>
                <a:spcPts val="700"/>
              </a:spcAft>
              <a:defRPr sz="1700">
                <a:solidFill>
                  <a:srgbClr val="F4F7FC"/>
                </a:solidFill>
                <a:latin typeface="Aptos"/>
              </a:defRPr>
            </a:pPr>
            <a:r>
              <a:t>Action: Reorder, markdown, decision-grid and value-at-risk views support prioritization.</a:t>
            </a:r>
          </a:p>
          <a:p>
            <a:pPr>
              <a:spcAft>
                <a:spcPts val="700"/>
              </a:spcAft>
              <a:defRPr sz="1700">
                <a:solidFill>
                  <a:srgbClr val="F4F7FC"/>
                </a:solidFill>
                <a:latin typeface="Aptos"/>
              </a:defRPr>
            </a:pPr>
            <a:r>
              <a:t>Output: Users inspect SKUs, review model performance and download filtered risk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BEC9"/>
                </a:solidFill>
                <a:latin typeface="Aptos"/>
              </a:rPr>
              <a:t>Key point: Results are based on the user's uploaded dataset, subject to compatible columns and documented limitations.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Text boxes adjusted with word wrapping, internal margins, and text-to-fit formatting.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