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30"/>
          </a:solidFill>
          <a:ln>
            <a:solidFill>
              <a:srgbClr val="0F1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138160" y="-457200"/>
            <a:ext cx="4754880" cy="7772400"/>
          </a:xfrm>
          <a:prstGeom prst="roundRect">
            <a:avLst/>
          </a:prstGeom>
          <a:solidFill>
            <a:srgbClr val="2165AC"/>
          </a:solidFill>
          <a:ln>
            <a:solidFill>
              <a:srgbClr val="2165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372600" y="-457200"/>
            <a:ext cx="3840480" cy="7772400"/>
          </a:xfrm>
          <a:prstGeom prst="roundRect">
            <a:avLst/>
          </a:prstGeom>
          <a:solidFill>
            <a:srgbClr val="31BEC9"/>
          </a:solidFill>
          <a:ln>
            <a:solidFill>
              <a:srgbClr val="31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A9184"/>
          </a:solidFill>
          <a:ln>
            <a:solidFill>
              <a:srgbClr val="1A9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7315200" cy="68580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 Display"/>
              </a:rPr>
              <a:t>FORESIGHT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38528"/>
            <a:ext cx="6858000" cy="5029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500" b="1">
                <a:solidFill>
                  <a:srgbClr val="D6E6F2"/>
                </a:solidFill>
                <a:latin typeface="Aptos"/>
              </a:rPr>
              <a:t>Inventory Intelligence &amp; Demand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78608"/>
            <a:ext cx="4572000" cy="36576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500" b="1">
                <a:solidFill>
                  <a:srgbClr val="31BEC9"/>
                </a:solidFill>
                <a:latin typeface="Aptos"/>
              </a:rPr>
              <a:t>Executive Readout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26280"/>
            <a:ext cx="6126480" cy="36576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ptos"/>
              </a:rPr>
              <a:t>From demand forecasts to actionable reorder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10912"/>
            <a:ext cx="64008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100" b="0">
                <a:solidFill>
                  <a:srgbClr val="BECDDC"/>
                </a:solidFill>
                <a:latin typeface="Aptos"/>
              </a:rPr>
              <a:t>Prepared for  |  Head of Operations &amp; Finance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3657600" cy="22860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NORTHBAY LIVING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000" b="1">
                <a:solidFill>
                  <a:srgbClr val="31BEC9"/>
                </a:solidFill>
                <a:latin typeface="Aptos"/>
              </a:rPr>
              <a:t>01 / EXECUTIVE SNAPSHOT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 Display"/>
              </a:rPr>
              <a:t>The system turns forecast demand into inventory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789920" cy="36576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200" b="0">
                <a:solidFill>
                  <a:srgbClr val="BECDDC"/>
                </a:solidFill>
                <a:latin typeface="Aptos"/>
              </a:rPr>
              <a:t>Current dashboard view • 100 SKUs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14600" cy="137160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73152" cy="1371600"/>
          </a:xfrm>
          <a:prstGeom prst="rect">
            <a:avLst/>
          </a:prstGeom>
          <a:solidFill>
            <a:srgbClr val="31BEC9"/>
          </a:solidFill>
          <a:ln>
            <a:solidFill>
              <a:srgbClr val="31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76272"/>
            <a:ext cx="2103120" cy="41148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 Display"/>
              </a:rPr>
              <a:t>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24912"/>
            <a:ext cx="214884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100" b="0">
                <a:solidFill>
                  <a:srgbClr val="BECDDC"/>
                </a:solidFill>
                <a:latin typeface="Aptos"/>
              </a:rPr>
              <a:t>SKUs monitored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920240"/>
            <a:ext cx="2514600" cy="137160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1920240"/>
            <a:ext cx="73152" cy="1371600"/>
          </a:xfrm>
          <a:prstGeom prst="rect">
            <a:avLst/>
          </a:prstGeom>
          <a:solidFill>
            <a:srgbClr val="F28F3A"/>
          </a:solidFill>
          <a:ln>
            <a:solidFill>
              <a:srgbClr val="F28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176272"/>
            <a:ext cx="2103120" cy="41148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 Display"/>
              </a:rPr>
              <a:t>₹61.14M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724912"/>
            <a:ext cx="214884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100" b="0">
                <a:solidFill>
                  <a:srgbClr val="BECDDC"/>
                </a:solidFill>
                <a:latin typeface="Aptos"/>
              </a:rPr>
              <a:t>Value at risk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920240"/>
            <a:ext cx="2514600" cy="137160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920240"/>
            <a:ext cx="73152" cy="1371600"/>
          </a:xfrm>
          <a:prstGeom prst="rect">
            <a:avLst/>
          </a:prstGeom>
          <a:solidFill>
            <a:srgbClr val="1A9184"/>
          </a:solidFill>
          <a:ln>
            <a:solidFill>
              <a:srgbClr val="1A9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176272"/>
            <a:ext cx="2103120" cy="41148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 Display"/>
              </a:rPr>
              <a:t>23.75%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724912"/>
            <a:ext cx="214884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100" b="0">
                <a:solidFill>
                  <a:srgbClr val="BECDDC"/>
                </a:solidFill>
                <a:latin typeface="Aptos"/>
              </a:rPr>
              <a:t>Reported WAPE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1920240"/>
            <a:ext cx="2514600" cy="137160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69680" y="1920240"/>
            <a:ext cx="73152" cy="1371600"/>
          </a:xfrm>
          <a:prstGeom prst="rect">
            <a:avLst/>
          </a:prstGeom>
          <a:solidFill>
            <a:srgbClr val="D2464E"/>
          </a:solidFill>
          <a:ln>
            <a:solidFill>
              <a:srgbClr val="D246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2176272"/>
            <a:ext cx="2103120" cy="41148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 Display"/>
              </a:rPr>
              <a:t>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724912"/>
            <a:ext cx="214884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100" b="0">
                <a:solidFill>
                  <a:srgbClr val="BECDDC"/>
                </a:solidFill>
                <a:latin typeface="Aptos"/>
              </a:rPr>
              <a:t>High-risk / reorder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94760"/>
            <a:ext cx="10744200" cy="150876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069080"/>
            <a:ext cx="36576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31BEC9"/>
                </a:solidFill>
                <a:latin typeface="Aptos"/>
              </a:rPr>
              <a:t>What leadership should take away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16552"/>
            <a:ext cx="9875520" cy="685800"/>
          </a:xfrm>
          <a:prstGeom prst="rect">
            <a:avLst/>
          </a:prstGeom>
          <a:noFill/>
        </p:spPr>
        <p:txBody>
          <a:bodyPr wrap="square" lIns="63500" rIns="63500" tIns="38100" bIns="38100">
            <a:norm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Aptos"/>
              </a:defRPr>
            </a:pPr>
            <a:r>
              <a:rPr sz="1100"/>
              <a:t>Prioritize inventory decisions by forecast shortfall and rupee exposure.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Aptos"/>
              </a:defRPr>
            </a:pPr>
            <a:r>
              <a:rPr sz="1100"/>
              <a:t>Use the dashboard for SKU-level triage and the API for repeatable scoring.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Aptos"/>
              </a:defRPr>
            </a:pPr>
            <a:r>
              <a:rPr sz="1100"/>
              <a:t>Treat the rupee figure as an estimated exposure, not confirmed realized loss.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510528"/>
            <a:ext cx="5486400" cy="164592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800" b="0">
                <a:solidFill>
                  <a:srgbClr val="A0B2C6"/>
                </a:solidFill>
                <a:latin typeface="Aptos"/>
              </a:rPr>
              <a:t>FORESIGHT  |  NorthBay Living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r"/>
            <a:r>
              <a:rPr sz="900" b="1">
                <a:solidFill>
                  <a:srgbClr val="31BEC9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000" b="1">
                <a:solidFill>
                  <a:srgbClr val="31BEC9"/>
                </a:solidFill>
                <a:latin typeface="Aptos"/>
              </a:rPr>
              <a:t>02 / BUSINESS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 Display"/>
              </a:rPr>
              <a:t>The operational problem is not only forecasting—it is prioritization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361188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176272"/>
            <a:ext cx="36576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F28F3A"/>
                </a:solidFill>
                <a:latin typeface="Aptos"/>
              </a:rPr>
              <a:t>Business pressure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633472"/>
            <a:ext cx="4389120" cy="2103120"/>
          </a:xfrm>
          <a:prstGeom prst="rect">
            <a:avLst/>
          </a:prstGeom>
          <a:noFill/>
        </p:spPr>
        <p:txBody>
          <a:bodyPr wrap="square" lIns="63500" rIns="63500" tIns="38100" bIns="38100">
            <a:norm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rPr sz="1200"/>
              <a:t>Demand varies across SKUs, weeks and promotions.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rPr sz="1200"/>
              <a:t>Inventory decisions need a common, explainable priority signal.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rPr sz="1200"/>
              <a:t>Finance needs an interpretable view of potential exposure.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74519"/>
            <a:ext cx="5212080" cy="361188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2176272"/>
            <a:ext cx="36576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31BEC9"/>
                </a:solidFill>
                <a:latin typeface="Aptos"/>
              </a:rPr>
              <a:t>FORESIGHT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633472"/>
            <a:ext cx="4434840" cy="2103120"/>
          </a:xfrm>
          <a:prstGeom prst="rect">
            <a:avLst/>
          </a:prstGeom>
          <a:noFill/>
        </p:spPr>
        <p:txBody>
          <a:bodyPr wrap="square" lIns="63500" rIns="63500" tIns="38100" bIns="38100">
            <a:norm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rPr sz="1200"/>
              <a:t>Forecast demand using historical and calendar features.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rPr sz="1200"/>
              <a:t>Compare available inventory against expected demand.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rPr sz="1200"/>
              <a:t>Translate shortfall into risk level, action and rupee estimate.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5486400" cy="164592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800" b="0">
                <a:solidFill>
                  <a:srgbClr val="A0B2C6"/>
                </a:solidFill>
                <a:latin typeface="Aptos"/>
              </a:rPr>
              <a:t>FORESIGHT  |  NorthBay Living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r"/>
            <a:r>
              <a:rPr sz="900" b="1">
                <a:solidFill>
                  <a:srgbClr val="31BEC9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000" b="1">
                <a:solidFill>
                  <a:srgbClr val="31BEC9"/>
                </a:solidFill>
                <a:latin typeface="Aptos"/>
              </a:rPr>
              <a:t>03 /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 Display"/>
              </a:rPr>
              <a:t>A repeatable pipeline connects data, forecasts and decisions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331720"/>
            <a:ext cx="1874519" cy="201168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1874519" cy="109728"/>
          </a:xfrm>
          <a:prstGeom prst="rect">
            <a:avLst/>
          </a:prstGeom>
          <a:solidFill>
            <a:srgbClr val="31BEC9"/>
          </a:solidFill>
          <a:ln>
            <a:solidFill>
              <a:srgbClr val="31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633472"/>
            <a:ext cx="411480" cy="32004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31BEC9"/>
                </a:solidFill>
                <a:latin typeface="Aptos Display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127248"/>
            <a:ext cx="150876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584448"/>
            <a:ext cx="1463040" cy="5029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100" b="0">
                <a:solidFill>
                  <a:srgbClr val="BECDDC"/>
                </a:solidFill>
                <a:latin typeface="Aptos"/>
              </a:rPr>
              <a:t>Clean &amp; prepare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3063240"/>
            <a:ext cx="32004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ctr"/>
            <a:r>
              <a:rPr sz="1300" b="1">
                <a:solidFill>
                  <a:srgbClr val="31BEC9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4368" y="2331720"/>
            <a:ext cx="1874519" cy="201168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44368" y="2331720"/>
            <a:ext cx="1874519" cy="109728"/>
          </a:xfrm>
          <a:prstGeom prst="rect">
            <a:avLst/>
          </a:prstGeom>
          <a:solidFill>
            <a:srgbClr val="2165AC"/>
          </a:solidFill>
          <a:ln>
            <a:solidFill>
              <a:srgbClr val="2165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27248" y="2633472"/>
            <a:ext cx="411480" cy="32004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2165AC"/>
                </a:solidFill>
                <a:latin typeface="Aptos Display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3127248"/>
            <a:ext cx="150876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</a:rPr>
              <a:t>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7248" y="3584448"/>
            <a:ext cx="1463040" cy="5029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100" b="0">
                <a:solidFill>
                  <a:srgbClr val="BECDDC"/>
                </a:solidFill>
                <a:latin typeface="Aptos"/>
              </a:rPr>
              <a:t>Lags, rolling stats, calendar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3063240"/>
            <a:ext cx="32004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ctr"/>
            <a:r>
              <a:rPr sz="1300" b="1">
                <a:solidFill>
                  <a:srgbClr val="31BEC9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0368" y="2331720"/>
            <a:ext cx="1874519" cy="201168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30368" y="2331720"/>
            <a:ext cx="1874519" cy="109728"/>
          </a:xfrm>
          <a:prstGeom prst="rect">
            <a:avLst/>
          </a:prstGeom>
          <a:solidFill>
            <a:srgbClr val="1A9184"/>
          </a:solidFill>
          <a:ln>
            <a:solidFill>
              <a:srgbClr val="1A9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13248" y="2633472"/>
            <a:ext cx="411480" cy="32004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1A9184"/>
                </a:solidFill>
                <a:latin typeface="Aptos Display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3248" y="3127248"/>
            <a:ext cx="150876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</a:rPr>
              <a:t>Forecast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3248" y="3584448"/>
            <a:ext cx="1463040" cy="5029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100" b="0">
                <a:solidFill>
                  <a:srgbClr val="BECDDC"/>
                </a:solidFill>
                <a:latin typeface="Aptos"/>
              </a:rPr>
              <a:t>Model + rolling backtest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0608" y="3063240"/>
            <a:ext cx="32004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ctr"/>
            <a:r>
              <a:rPr sz="1300" b="1">
                <a:solidFill>
                  <a:srgbClr val="31BEC9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16368" y="2331720"/>
            <a:ext cx="1874519" cy="201168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16368" y="2331720"/>
            <a:ext cx="1874519" cy="109728"/>
          </a:xfrm>
          <a:prstGeom prst="rect">
            <a:avLst/>
          </a:prstGeom>
          <a:solidFill>
            <a:srgbClr val="F28F3A"/>
          </a:solidFill>
          <a:ln>
            <a:solidFill>
              <a:srgbClr val="F28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99248" y="2633472"/>
            <a:ext cx="411480" cy="32004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F28F3A"/>
                </a:solidFill>
                <a:latin typeface="Aptos Display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9248" y="3127248"/>
            <a:ext cx="150876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</a:rPr>
              <a:t>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3584448"/>
            <a:ext cx="1463040" cy="5029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100" b="0">
                <a:solidFill>
                  <a:srgbClr val="BECDDC"/>
                </a:solidFill>
                <a:latin typeface="Aptos"/>
              </a:rPr>
              <a:t>Inventory shortfall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3063240"/>
            <a:ext cx="32004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ctr"/>
            <a:r>
              <a:rPr sz="1300" b="1">
                <a:solidFill>
                  <a:srgbClr val="31BEC9"/>
                </a:solidFill>
                <a:latin typeface="Aptos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02368" y="2331720"/>
            <a:ext cx="1874519" cy="201168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02368" y="2331720"/>
            <a:ext cx="1874519" cy="109728"/>
          </a:xfrm>
          <a:prstGeom prst="rect">
            <a:avLst/>
          </a:prstGeom>
          <a:solidFill>
            <a:srgbClr val="D2464E"/>
          </a:solidFill>
          <a:ln>
            <a:solidFill>
              <a:srgbClr val="D246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85248" y="2633472"/>
            <a:ext cx="411480" cy="32004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D2464E"/>
                </a:solidFill>
                <a:latin typeface="Aptos Display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85248" y="3127248"/>
            <a:ext cx="150876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</a:rPr>
              <a:t>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85248" y="3584448"/>
            <a:ext cx="1463040" cy="5029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100" b="0">
                <a:solidFill>
                  <a:srgbClr val="BECDDC"/>
                </a:solidFill>
                <a:latin typeface="Aptos"/>
              </a:rPr>
              <a:t>Reorder priority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074920"/>
            <a:ext cx="10607040" cy="32004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200" b="1">
                <a:solidFill>
                  <a:srgbClr val="F28F3A"/>
                </a:solidFill>
                <a:latin typeface="Aptos"/>
              </a:rPr>
              <a:t>Design principle: use only available fields; do not fabricate lead time or reorder-point inputs.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510528"/>
            <a:ext cx="5486400" cy="164592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800" b="0">
                <a:solidFill>
                  <a:srgbClr val="A0B2C6"/>
                </a:solidFill>
                <a:latin typeface="Aptos"/>
              </a:rPr>
              <a:t>FORESIGHT  |  NorthBay Living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r"/>
            <a:r>
              <a:rPr sz="900" b="1">
                <a:solidFill>
                  <a:srgbClr val="31BEC9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000" b="1">
                <a:solidFill>
                  <a:srgbClr val="31BEC9"/>
                </a:solidFill>
                <a:latin typeface="Aptos"/>
              </a:rPr>
              <a:t>04 / MODEL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 Display"/>
              </a:rPr>
              <a:t>The selected approach improves on the seasonal-naive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789920" cy="36576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200" b="0">
                <a:solidFill>
                  <a:srgbClr val="BECDDC"/>
                </a:solidFill>
                <a:latin typeface="Aptos"/>
              </a:rPr>
              <a:t>WAPE comparison • lower is better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1920240" cy="22860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Seasonal Naive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2075688"/>
            <a:ext cx="6858000" cy="274320"/>
          </a:xfrm>
          <a:prstGeom prst="roundRect">
            <a:avLst/>
          </a:prstGeom>
          <a:solidFill>
            <a:srgbClr val="2E4058"/>
          </a:solidFill>
          <a:ln>
            <a:solidFill>
              <a:srgbClr val="2E40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4640" y="2075688"/>
            <a:ext cx="5779579" cy="274320"/>
          </a:xfrm>
          <a:prstGeom prst="roundRect">
            <a:avLst/>
          </a:prstGeom>
          <a:solidFill>
            <a:srgbClr val="667486"/>
          </a:solidFill>
          <a:ln>
            <a:solidFill>
              <a:srgbClr val="66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039112"/>
            <a:ext cx="109728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ptos"/>
              </a:rPr>
              <a:t>33.71%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920240" cy="22860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Random Forest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2734056"/>
            <a:ext cx="6858000" cy="274320"/>
          </a:xfrm>
          <a:prstGeom prst="roundRect">
            <a:avLst/>
          </a:prstGeom>
          <a:solidFill>
            <a:srgbClr val="2E4058"/>
          </a:solidFill>
          <a:ln>
            <a:solidFill>
              <a:srgbClr val="2E40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34640" y="2734056"/>
            <a:ext cx="4334256" cy="274320"/>
          </a:xfrm>
          <a:prstGeom prst="roundRect">
            <a:avLst/>
          </a:prstGeom>
          <a:solidFill>
            <a:srgbClr val="2165AC"/>
          </a:solidFill>
          <a:ln>
            <a:solidFill>
              <a:srgbClr val="2165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21240" y="2697479"/>
            <a:ext cx="109728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ptos"/>
              </a:rPr>
              <a:t>25.28%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74136"/>
            <a:ext cx="1920240" cy="22860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Gradient Boosting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3392424"/>
            <a:ext cx="6858000" cy="274320"/>
          </a:xfrm>
          <a:prstGeom prst="roundRect">
            <a:avLst/>
          </a:prstGeom>
          <a:solidFill>
            <a:srgbClr val="2E4058"/>
          </a:solidFill>
          <a:ln>
            <a:solidFill>
              <a:srgbClr val="2E40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834640" y="3392424"/>
            <a:ext cx="4138803" cy="274320"/>
          </a:xfrm>
          <a:prstGeom prst="roundRect">
            <a:avLst/>
          </a:prstGeom>
          <a:solidFill>
            <a:srgbClr val="1A9184"/>
          </a:solidFill>
          <a:ln>
            <a:solidFill>
              <a:srgbClr val="1A9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21240" y="3355848"/>
            <a:ext cx="109728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ptos"/>
              </a:rPr>
              <a:t>24.14%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32504"/>
            <a:ext cx="1920240" cy="22860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Reported Final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4640" y="4050791"/>
            <a:ext cx="6858000" cy="274320"/>
          </a:xfrm>
          <a:prstGeom prst="roundRect">
            <a:avLst/>
          </a:prstGeom>
          <a:solidFill>
            <a:srgbClr val="2E4058"/>
          </a:solidFill>
          <a:ln>
            <a:solidFill>
              <a:srgbClr val="2E40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834640" y="4050791"/>
            <a:ext cx="4071937" cy="274320"/>
          </a:xfrm>
          <a:prstGeom prst="roundRect">
            <a:avLst/>
          </a:prstGeom>
          <a:solidFill>
            <a:srgbClr val="31BEC9"/>
          </a:solidFill>
          <a:ln>
            <a:solidFill>
              <a:srgbClr val="31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4014216"/>
            <a:ext cx="109728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ptos"/>
              </a:rPr>
              <a:t>23.75%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892040"/>
            <a:ext cx="10561320" cy="82296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093208"/>
            <a:ext cx="1188720" cy="22860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31BEC9"/>
                </a:solidFill>
                <a:latin typeface="Aptos"/>
              </a:rPr>
              <a:t>Interpretation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80" y="5010912"/>
            <a:ext cx="8595360" cy="384048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The final reported WAPE is below the seasonal-naive baseline; performance should still be monitored by SKU and season.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510528"/>
            <a:ext cx="5486400" cy="164592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800" b="0">
                <a:solidFill>
                  <a:srgbClr val="A0B2C6"/>
                </a:solidFill>
                <a:latin typeface="Aptos"/>
              </a:rPr>
              <a:t>FORESIGHT  |  NorthBay Living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r"/>
            <a:r>
              <a:rPr sz="900" b="1">
                <a:solidFill>
                  <a:srgbClr val="31BEC9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000" b="1">
                <a:solidFill>
                  <a:srgbClr val="31BEC9"/>
                </a:solidFill>
                <a:latin typeface="Aptos"/>
              </a:rPr>
              <a:t>05 / RISK &amp;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 Display"/>
              </a:rPr>
              <a:t>Risk is expressed in operational language—not only model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57400"/>
            <a:ext cx="3246120" cy="246888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57400"/>
            <a:ext cx="3246120" cy="118872"/>
          </a:xfrm>
          <a:prstGeom prst="rect">
            <a:avLst/>
          </a:prstGeom>
          <a:solidFill>
            <a:srgbClr val="D2464E"/>
          </a:solidFill>
          <a:ln>
            <a:solidFill>
              <a:srgbClr val="D246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27432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D2464E"/>
                </a:solidFill>
                <a:latin typeface="Aptos"/>
              </a:rPr>
              <a:t>REORDER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2743200" cy="59436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Forecast exceeds available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1371600" cy="201168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000" b="1">
                <a:solidFill>
                  <a:srgbClr val="BECDDC"/>
                </a:solidFill>
                <a:latin typeface="Aptos"/>
              </a:rPr>
              <a:t>Recommended: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41648"/>
            <a:ext cx="27432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</a:rPr>
              <a:t>Reorder inventory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057400"/>
            <a:ext cx="3246120" cy="246888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057400"/>
            <a:ext cx="3246120" cy="118872"/>
          </a:xfrm>
          <a:prstGeom prst="rect">
            <a:avLst/>
          </a:prstGeom>
          <a:solidFill>
            <a:srgbClr val="F28F3A"/>
          </a:solidFill>
          <a:ln>
            <a:solidFill>
              <a:srgbClr val="F28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423160"/>
            <a:ext cx="27432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F28F3A"/>
                </a:solidFill>
                <a:latin typeface="Aptos"/>
              </a:rPr>
              <a:t>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926080"/>
            <a:ext cx="2743200" cy="59436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Demand and inventory are closer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794760"/>
            <a:ext cx="1371600" cy="201168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000" b="1">
                <a:solidFill>
                  <a:srgbClr val="BECDDC"/>
                </a:solidFill>
                <a:latin typeface="Aptos"/>
              </a:rPr>
              <a:t>Recommended: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041648"/>
            <a:ext cx="27432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</a:rPr>
              <a:t>Review next cycle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057400"/>
            <a:ext cx="3246120" cy="246888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2057400"/>
            <a:ext cx="3246120" cy="118872"/>
          </a:xfrm>
          <a:prstGeom prst="rect">
            <a:avLst/>
          </a:prstGeom>
          <a:solidFill>
            <a:srgbClr val="1A9184"/>
          </a:solidFill>
          <a:ln>
            <a:solidFill>
              <a:srgbClr val="1A9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423160"/>
            <a:ext cx="27432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1A9184"/>
                </a:solidFill>
                <a:latin typeface="Aptos"/>
              </a:rPr>
              <a:t>OVERSTOCK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926080"/>
            <a:ext cx="2743200" cy="59436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Available inventory exceeds expected demand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794760"/>
            <a:ext cx="1371600" cy="201168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000" b="1">
                <a:solidFill>
                  <a:srgbClr val="BECDDC"/>
                </a:solidFill>
                <a:latin typeface="Aptos"/>
              </a:rPr>
              <a:t>Recommended: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041648"/>
            <a:ext cx="27432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Avoid unnecessary replenishment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10515600" cy="32004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200" b="1">
                <a:solidFill>
                  <a:srgbClr val="F28F3A"/>
                </a:solidFill>
                <a:latin typeface="Aptos"/>
              </a:rPr>
              <a:t>Rupee exposure = estimated shortfall units × unit price. It is a prioritization signal, not a confirmed loss.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486400" cy="164592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800" b="0">
                <a:solidFill>
                  <a:srgbClr val="A0B2C6"/>
                </a:solidFill>
                <a:latin typeface="Aptos"/>
              </a:rPr>
              <a:t>FORESIGHT  |  NorthBay Living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r"/>
            <a:r>
              <a:rPr sz="900" b="1">
                <a:solidFill>
                  <a:srgbClr val="31BEC9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000" b="1">
                <a:solidFill>
                  <a:srgbClr val="31BEC9"/>
                </a:solidFill>
                <a:latin typeface="Aptos"/>
              </a:rPr>
              <a:t>06 /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 Display"/>
              </a:rPr>
              <a:t>The solution is available through both a dashboard and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074920" cy="324612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59152"/>
            <a:ext cx="36576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31BEC9"/>
                </a:solidFill>
                <a:latin typeface="Aptos"/>
              </a:rPr>
              <a:t>Streamlit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52928"/>
            <a:ext cx="4206240" cy="1645920"/>
          </a:xfrm>
          <a:prstGeom prst="rect">
            <a:avLst/>
          </a:prstGeom>
          <a:noFill/>
        </p:spPr>
        <p:txBody>
          <a:bodyPr wrap="square" lIns="63500" rIns="63500" tIns="38100" bIns="38100">
            <a:norm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sz="1200"/>
              <a:t>Executive KPI view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sz="1200"/>
              <a:t>Risk summary and SKU-level prioritization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sz="1200"/>
              <a:t>Forecast horizon and model performance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sz="1200"/>
              <a:t>Business-facing explanations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2011680"/>
            <a:ext cx="5074920" cy="324612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359152"/>
            <a:ext cx="41148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1A9184"/>
                </a:solidFill>
                <a:latin typeface="Aptos"/>
              </a:rPr>
              <a:t>FastAPI scoring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852928"/>
            <a:ext cx="4206240" cy="1645920"/>
          </a:xfrm>
          <a:prstGeom prst="rect">
            <a:avLst/>
          </a:prstGeom>
          <a:noFill/>
        </p:spPr>
        <p:txBody>
          <a:bodyPr wrap="square" lIns="63500" rIns="63500" tIns="38100" bIns="38100">
            <a:norm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sz="1200"/>
              <a:t>Single-SKU forecast endpoint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sz="1200"/>
              <a:t>Batch forecast endpoint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sz="1200"/>
              <a:t>Swagger documentation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sz="1200"/>
              <a:t>Structured validation for bad inputs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23560"/>
            <a:ext cx="105156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200" b="0">
                <a:solidFill>
                  <a:srgbClr val="BECDDC"/>
                </a:solidFill>
                <a:latin typeface="Aptos"/>
              </a:rPr>
              <a:t>Hosted components are separated: presentation for decisions, API for repeatable integration.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5486400" cy="164592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800" b="0">
                <a:solidFill>
                  <a:srgbClr val="A0B2C6"/>
                </a:solidFill>
                <a:latin typeface="Aptos"/>
              </a:rPr>
              <a:t>FORESIGHT  |  NorthBay Living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r"/>
            <a:r>
              <a:rPr sz="900" b="1">
                <a:solidFill>
                  <a:srgbClr val="31BEC9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000" b="1">
                <a:solidFill>
                  <a:srgbClr val="31BEC9"/>
                </a:solidFill>
                <a:latin typeface="Aptos"/>
              </a:rPr>
              <a:t>07 /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 Display"/>
              </a:rPr>
              <a:t>Use the output with clear controls and known limitations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5212080" cy="352044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32004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F28F3A"/>
                </a:solidFill>
                <a:latin typeface="Aptos"/>
              </a:rPr>
              <a:t>Known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97480"/>
            <a:ext cx="4480560" cy="1920240"/>
          </a:xfrm>
          <a:prstGeom prst="rect">
            <a:avLst/>
          </a:prstGeom>
          <a:noFill/>
        </p:spPr>
        <p:txBody>
          <a:bodyPr wrap="square" lIns="63500" rIns="63500" tIns="38100" bIns="38100">
            <a:norm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sz="1200"/>
              <a:t>Lead time and reorder-point fields were not available.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sz="1200"/>
              <a:t>Accuracy can vary by SKU, season and promotion.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sz="1200"/>
              <a:t>Rupee risk is an estimate based on model and inventory inputs.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20240"/>
            <a:ext cx="5120640" cy="3520440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347472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31BEC9"/>
                </a:solidFill>
                <a:latin typeface="Aptos"/>
              </a:rPr>
              <a:t>Recommended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697480"/>
            <a:ext cx="4434840" cy="1920240"/>
          </a:xfrm>
          <a:prstGeom prst="rect">
            <a:avLst/>
          </a:prstGeom>
          <a:noFill/>
        </p:spPr>
        <p:txBody>
          <a:bodyPr wrap="square" lIns="63500" rIns="63500" tIns="38100" bIns="38100">
            <a:norm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sz="1200"/>
              <a:t>Review forecast error by SKU and time period.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sz="1200"/>
              <a:t>Validate key recommendations before purchase release.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sz="1200"/>
              <a:t>Add lead time, service level and supplier constraints in the next version.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5486400" cy="164592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800" b="0">
                <a:solidFill>
                  <a:srgbClr val="A0B2C6"/>
                </a:solidFill>
                <a:latin typeface="Aptos"/>
              </a:rPr>
              <a:t>FORESIGHT  |  NorthBay Living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r"/>
            <a:r>
              <a:rPr sz="900" b="1">
                <a:solidFill>
                  <a:srgbClr val="31BEC9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000" b="1">
                <a:solidFill>
                  <a:srgbClr val="31BEC9"/>
                </a:solidFill>
                <a:latin typeface="Aptos"/>
              </a:rPr>
              <a:t>08 /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 Display"/>
              </a:rPr>
              <a:t>Move from pilot visibility to controlled operating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41148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31BEC9"/>
                </a:solidFill>
                <a:latin typeface="Aptos Display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965960"/>
            <a:ext cx="310896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</a:rPr>
              <a:t>Operational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965960"/>
            <a:ext cx="649224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0">
                <a:solidFill>
                  <a:srgbClr val="BECDDC"/>
                </a:solidFill>
                <a:latin typeface="Aptos"/>
              </a:rPr>
              <a:t>Review top-risk SKUs with inventory and finance teams.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8760" y="2468880"/>
            <a:ext cx="9509760" cy="13716"/>
          </a:xfrm>
          <a:prstGeom prst="rect">
            <a:avLst/>
          </a:prstGeom>
          <a:solidFill>
            <a:srgbClr val="3F536E"/>
          </a:solidFill>
          <a:ln>
            <a:solidFill>
              <a:srgbClr val="3F53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41148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31BEC9"/>
                </a:solidFill>
                <a:latin typeface="Aptos Display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834639"/>
            <a:ext cx="310896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</a:rPr>
              <a:t>Input enrichment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834639"/>
            <a:ext cx="649224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0">
                <a:solidFill>
                  <a:srgbClr val="BECDDC"/>
                </a:solidFill>
                <a:latin typeface="Aptos"/>
              </a:rPr>
              <a:t>Add lead time, reorder points, supplier and service-level data.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8760" y="3337559"/>
            <a:ext cx="9509760" cy="13716"/>
          </a:xfrm>
          <a:prstGeom prst="rect">
            <a:avLst/>
          </a:prstGeom>
          <a:solidFill>
            <a:srgbClr val="3F536E"/>
          </a:solidFill>
          <a:ln>
            <a:solidFill>
              <a:srgbClr val="3F53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703320"/>
            <a:ext cx="41148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31BEC9"/>
                </a:solidFill>
                <a:latin typeface="Aptos Display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703320"/>
            <a:ext cx="310896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</a:rPr>
              <a:t>Monitoring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703320"/>
            <a:ext cx="649224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0">
                <a:solidFill>
                  <a:srgbClr val="BECDDC"/>
                </a:solidFill>
                <a:latin typeface="Aptos"/>
              </a:rPr>
              <a:t>Track WAPE, bias, stockout events and action adoption.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08760" y="4206240"/>
            <a:ext cx="9509760" cy="13716"/>
          </a:xfrm>
          <a:prstGeom prst="rect">
            <a:avLst/>
          </a:prstGeom>
          <a:solidFill>
            <a:srgbClr val="3F536E"/>
          </a:solidFill>
          <a:ln>
            <a:solidFill>
              <a:srgbClr val="3F53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72000"/>
            <a:ext cx="41148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31BEC9"/>
                </a:solidFill>
                <a:latin typeface="Aptos Display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572000"/>
            <a:ext cx="310896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572000"/>
            <a:ext cx="6492240" cy="27432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1300" b="0">
                <a:solidFill>
                  <a:srgbClr val="BECDDC"/>
                </a:solidFill>
                <a:latin typeface="Aptos"/>
              </a:rPr>
              <a:t>Connect the API to planning workflows and scheduled refreshes.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08760" y="5074920"/>
            <a:ext cx="9509760" cy="13716"/>
          </a:xfrm>
          <a:prstGeom prst="rect">
            <a:avLst/>
          </a:prstGeom>
          <a:solidFill>
            <a:srgbClr val="3F536E"/>
          </a:solidFill>
          <a:ln>
            <a:solidFill>
              <a:srgbClr val="3F53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5715000"/>
            <a:ext cx="10561320" cy="411480"/>
          </a:xfrm>
          <a:prstGeom prst="roundRect">
            <a:avLst/>
          </a:prstGeom>
          <a:solidFill>
            <a:srgbClr val="1A9184"/>
          </a:solidFill>
          <a:ln>
            <a:solidFill>
              <a:srgbClr val="1A9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815584"/>
            <a:ext cx="9966960" cy="182880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Decision requested: approve a controlled validation cycle before broader operational adoption.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10528"/>
            <a:ext cx="5486400" cy="164592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l"/>
            <a:r>
              <a:rPr sz="800" b="0">
                <a:solidFill>
                  <a:srgbClr val="A0B2C6"/>
                </a:solidFill>
                <a:latin typeface="Aptos"/>
              </a:rPr>
              <a:t>FORESIGHT  |  NorthBay Living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63500" rIns="63500" anchor="t" tIns="38100" bIns="38100">
            <a:normAutofit/>
          </a:bodyPr>
          <a:lstStyle/>
          <a:p>
            <a:pPr algn="r"/>
            <a:r>
              <a:rPr sz="900" b="1">
                <a:solidFill>
                  <a:srgbClr val="31BEC9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572000" cy="274320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l"/>
            <a:r>
              <a:rPr sz="1000" b="1">
                <a:solidFill>
                  <a:srgbClr val="31BEC9"/>
                </a:solidFill>
                <a:latin typeface="Aptos"/>
              </a:rPr>
              <a:t>09 / Solution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48640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 Display"/>
              </a:rPr>
              <a:t>How the complete FORESIGHT system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972800" cy="320040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l"/>
            <a:r>
              <a:rPr sz="1200" b="0">
                <a:solidFill>
                  <a:srgbClr val="A0B2C6"/>
                </a:solidFill>
                <a:latin typeface="Aptos"/>
              </a:rPr>
              <a:t>One workflow connects historical data, machine learning, inventory risk and business 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10607040" cy="658368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9728" cy="658368"/>
          </a:xfrm>
          <a:prstGeom prst="rect">
            <a:avLst/>
          </a:prstGeom>
          <a:solidFill>
            <a:srgbClr val="2165AC"/>
          </a:solidFill>
          <a:ln>
            <a:solidFill>
              <a:srgbClr val="2165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84248"/>
            <a:ext cx="1828800" cy="201168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l"/>
            <a:r>
              <a:rPr sz="1100" b="1">
                <a:solidFill>
                  <a:srgbClr val="2165AC"/>
                </a:solidFill>
                <a:latin typeface="Aptos"/>
              </a:rPr>
              <a:t>DATA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947672"/>
            <a:ext cx="8046720" cy="384048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Raw inventory data
Processed tables • quality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2532887"/>
            <a:ext cx="365760" cy="228600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ctr"/>
            <a:r>
              <a:rPr sz="1300" b="1">
                <a:solidFill>
                  <a:srgbClr val="31BEC9"/>
                </a:solidFill>
                <a:latin typeface="Aptos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10607040" cy="658368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715768"/>
            <a:ext cx="109728" cy="658368"/>
          </a:xfrm>
          <a:prstGeom prst="rect">
            <a:avLst/>
          </a:prstGeom>
          <a:solidFill>
            <a:srgbClr val="31BEC9"/>
          </a:solidFill>
          <a:ln>
            <a:solidFill>
              <a:srgbClr val="31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25496"/>
            <a:ext cx="1828800" cy="201168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l"/>
            <a:r>
              <a:rPr sz="1100" b="1">
                <a:solidFill>
                  <a:srgbClr val="31BEC9"/>
                </a:solidFill>
                <a:latin typeface="Aptos"/>
              </a:rPr>
              <a:t>FEATURE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788920"/>
            <a:ext cx="8046720" cy="384048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Lag features • rolling statistics
Calendar • promotion • inventory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3374135"/>
            <a:ext cx="365760" cy="228600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ctr"/>
            <a:r>
              <a:rPr sz="1300" b="1">
                <a:solidFill>
                  <a:srgbClr val="31BEC9"/>
                </a:solidFill>
                <a:latin typeface="Aptos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557015"/>
            <a:ext cx="10607040" cy="658368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557015"/>
            <a:ext cx="109728" cy="658368"/>
          </a:xfrm>
          <a:prstGeom prst="rect">
            <a:avLst/>
          </a:prstGeom>
          <a:solidFill>
            <a:srgbClr val="1A9184"/>
          </a:solidFill>
          <a:ln>
            <a:solidFill>
              <a:srgbClr val="1A9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666744"/>
            <a:ext cx="1828800" cy="201168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l"/>
            <a:r>
              <a:rPr sz="1100" b="1">
                <a:solidFill>
                  <a:srgbClr val="1A9184"/>
                </a:solidFill>
                <a:latin typeface="Aptos"/>
              </a:rPr>
              <a:t>ML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630168"/>
            <a:ext cx="8046720" cy="384048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Baseline comparison
Random Forest / Gradient Boosting
Rolling-origin evaluation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4215383"/>
            <a:ext cx="365760" cy="228600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ctr"/>
            <a:r>
              <a:rPr sz="1300" b="1">
                <a:solidFill>
                  <a:srgbClr val="31BEC9"/>
                </a:solidFill>
                <a:latin typeface="Aptos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398264"/>
            <a:ext cx="10607040" cy="658368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398264"/>
            <a:ext cx="109728" cy="658368"/>
          </a:xfrm>
          <a:prstGeom prst="rect">
            <a:avLst/>
          </a:prstGeom>
          <a:solidFill>
            <a:srgbClr val="F28F3A"/>
          </a:solidFill>
          <a:ln>
            <a:solidFill>
              <a:srgbClr val="F28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507992"/>
            <a:ext cx="1828800" cy="201168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l"/>
            <a:r>
              <a:rPr sz="1100" b="1">
                <a:solidFill>
                  <a:srgbClr val="F28F3A"/>
                </a:solidFill>
                <a:latin typeface="Aptos"/>
              </a:rPr>
              <a:t>DECISION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471416"/>
            <a:ext cx="8046720" cy="384048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Forecast demand
Shortfall / excess units
Risk level • rupee exposure •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5056631"/>
            <a:ext cx="365760" cy="228600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ctr"/>
            <a:r>
              <a:rPr sz="1300" b="1">
                <a:solidFill>
                  <a:srgbClr val="31BEC9"/>
                </a:solidFill>
                <a:latin typeface="Aptos"/>
              </a:rP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239512"/>
            <a:ext cx="10607040" cy="658368"/>
          </a:xfrm>
          <a:prstGeom prst="roundRect">
            <a:avLst/>
          </a:prstGeom>
          <a:solidFill>
            <a:srgbClr val="1C2D48"/>
          </a:solidFill>
          <a:ln>
            <a:solidFill>
              <a:srgbClr val="1C2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5239512"/>
            <a:ext cx="109728" cy="658368"/>
          </a:xfrm>
          <a:prstGeom prst="rect">
            <a:avLst/>
          </a:prstGeom>
          <a:solidFill>
            <a:srgbClr val="B55CAE"/>
          </a:solidFill>
          <a:ln>
            <a:solidFill>
              <a:srgbClr val="B55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349240"/>
            <a:ext cx="1828800" cy="201168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l"/>
            <a:r>
              <a:rPr sz="1100" b="1">
                <a:solidFill>
                  <a:srgbClr val="B55CAE"/>
                </a:solidFill>
                <a:latin typeface="Aptos"/>
              </a:rPr>
              <a:t>DELIVERY 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5312664"/>
            <a:ext cx="8046720" cy="384048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Streamlit dashboard
FastAPI + Swagger
Single and batch scoring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6172200"/>
            <a:ext cx="10607040" cy="320040"/>
          </a:xfrm>
          <a:prstGeom prst="roundRect">
            <a:avLst/>
          </a:prstGeom>
          <a:solidFill>
            <a:srgbClr val="1A9184"/>
          </a:solidFill>
          <a:ln>
            <a:solidFill>
              <a:srgbClr val="1A9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6245352"/>
            <a:ext cx="10241280" cy="164592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Business outcome: prioritize replenishment decisions using a transparent and repeatable scoring process.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510528"/>
            <a:ext cx="5486400" cy="164592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l"/>
            <a:r>
              <a:rPr sz="800" b="0">
                <a:solidFill>
                  <a:srgbClr val="A0B2C6"/>
                </a:solidFill>
                <a:latin typeface="Aptos"/>
              </a:rPr>
              <a:t>FORESIGHT  |  NorthBay Living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73952"/>
            <a:ext cx="457200" cy="201168"/>
          </a:xfrm>
          <a:prstGeom prst="rect">
            <a:avLst/>
          </a:prstGeom>
          <a:noFill/>
        </p:spPr>
        <p:txBody>
          <a:bodyPr wrap="square" lIns="63500" rIns="63500" tIns="38100" bIns="38100" anchor="t">
            <a:normAutofit/>
          </a:bodyPr>
          <a:lstStyle/>
          <a:p>
            <a:pPr algn="r"/>
            <a:r>
              <a:rPr sz="900" b="1">
                <a:solidFill>
                  <a:srgbClr val="31BEC9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Text boxes adjusted with word wrapping, internal margins, and text-to-fit formatting.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